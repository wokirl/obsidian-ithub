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9BC69-34D5-43C0-A6F1-0B3CE7FA3526}" v="103" dt="2026-09-11T18:30:51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5924550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5715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 Управление Качеством  </a:t>
            </a:r>
            <a:r>
              <a:rPr sz="1050" b="1" i="0" u="none">
                <a:solidFill>
                  <a:srgbClr val="64748B"/>
                </a:solidFill>
                <a:latin typeface="Inter"/>
              </a:rPr>
              <a:t> PDCA MODEL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15050"/>
            <a:ext cx="10763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Концепция W. Edwards Deming &amp; Walter A. Shewhart Слайд 01 / 06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0" y="1524000"/>
            <a:ext cx="36195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064097"/>
            <a:ext cx="690086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Montserrat"/>
              </a:rPr>
              <a:t>Цикл Шухарта-</a:t>
            </a:r>
            <a:r>
              <a:t>
</a:t>
            </a:r>
            <a:r>
              <a:rPr sz="3900" b="1" i="0" u="none">
                <a:solidFill>
                  <a:srgbClr val="38BDF8"/>
                </a:solidFill>
                <a:latin typeface="Montserrat"/>
              </a:rPr>
              <a:t>Деминга</a:t>
            </a:r>
            <a:r>
              <a:rPr sz="3900" b="1" i="0" u="none">
                <a:solidFill>
                  <a:srgbClr val="FFFFFF"/>
                </a:solidFill>
                <a:latin typeface="Montserrat"/>
              </a:rPr>
              <a:t> (PDCA)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93727"/>
            <a:ext cx="5238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Модель непрерывного улучшения процессов, продуктов и эффективности бизнеса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4270027"/>
            <a:ext cx="609600" cy="333375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 w="9525">
            <a:solidFill>
              <a:srgbClr val="1B4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485900" y="4270027"/>
            <a:ext cx="504825" cy="333375"/>
          </a:xfrm>
          <a:prstGeom prst="roundRect">
            <a:avLst>
              <a:gd name="adj" fmla="val 50000"/>
            </a:avLst>
          </a:prstGeom>
          <a:solidFill>
            <a:srgbClr val="132A35"/>
          </a:solidFill>
          <a:ln w="9525">
            <a:solidFill>
              <a:srgbClr val="1A4F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105025" y="4270027"/>
            <a:ext cx="733425" cy="333375"/>
          </a:xfrm>
          <a:prstGeom prst="roundRect">
            <a:avLst>
              <a:gd name="adj" fmla="val 50000"/>
            </a:avLst>
          </a:prstGeom>
          <a:solidFill>
            <a:srgbClr val="272829"/>
          </a:solidFill>
          <a:ln w="9525">
            <a:solidFill>
              <a:srgbClr val="5649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52750" y="4270027"/>
            <a:ext cx="542925" cy="333375"/>
          </a:xfrm>
          <a:prstGeom prst="roundRect">
            <a:avLst>
              <a:gd name="adj" fmla="val 50000"/>
            </a:avLst>
          </a:prstGeom>
          <a:solidFill>
            <a:srgbClr val="262031"/>
          </a:solidFill>
          <a:ln w="9525">
            <a:solidFill>
              <a:srgbClr val="553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346227"/>
            <a:ext cx="40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8300" y="4346227"/>
            <a:ext cx="2952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4D399"/>
                </a:solidFill>
                <a:latin typeface="Inter"/>
              </a:rPr>
              <a:t>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7425" y="4346227"/>
            <a:ext cx="5238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BBF24"/>
                </a:solidFill>
                <a:latin typeface="Inter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5150" y="4346227"/>
            <a:ext cx="3333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7171"/>
                </a:solidFill>
                <a:latin typeface="Inter"/>
              </a:rPr>
              <a:t>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0B20F7-B8B5-5B5C-C61A-7E310FD06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59F4290-BB84-39D7-CE03-00637D943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10275"/>
            <a:ext cx="10972800" cy="3905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F6346D-5A72-BF0A-61E2-1F784E228997}"/>
              </a:ext>
            </a:extLst>
          </p:cNvPr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 КОНЦЕПЦИЯ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C1681-2072-3128-2E36-01539EE3410A}"/>
              </a:ext>
            </a:extLst>
          </p:cNvPr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Montserrat"/>
              </a:rPr>
              <a:t>Суть цикла PDCA: 4 шага замкнутого контура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68D743A1-BA42-EF94-1146-87D7985FC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1819275"/>
            <a:ext cx="3429000" cy="342900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BC580C59-7456-F59C-B3C8-B5495253E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6143625"/>
            <a:ext cx="133350" cy="1333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1E166D-3A07-734F-61C2-86510BE399C7}"/>
              </a:ext>
            </a:extLst>
          </p:cNvPr>
          <p:cNvSpPr txBox="1"/>
          <p:nvPr/>
        </p:nvSpPr>
        <p:spPr>
          <a:xfrm>
            <a:off x="4838700" y="2814637"/>
            <a:ext cx="30861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Постановка целей, расчет ресурсов, подготовка требований и прототипов.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8E7E2E-6757-764F-9B21-C83F03455905}"/>
              </a:ext>
            </a:extLst>
          </p:cNvPr>
          <p:cNvSpPr txBox="1"/>
          <p:nvPr/>
        </p:nvSpPr>
        <p:spPr>
          <a:xfrm>
            <a:off x="8401050" y="2814637"/>
            <a:ext cx="30861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Выполнение работ, реализация функций, проведение пилотных тестов.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14D8AD-E184-31F2-16A6-D1BB366C09EC}"/>
              </a:ext>
            </a:extLst>
          </p:cNvPr>
          <p:cNvSpPr txBox="1"/>
          <p:nvPr/>
        </p:nvSpPr>
        <p:spPr>
          <a:xfrm>
            <a:off x="4838700" y="3976687"/>
            <a:ext cx="30861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Анализ результатов, сравнение факта с планом, выявление отклонений.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2C0881-5907-A8DC-A362-F6E5B5D6793A}"/>
              </a:ext>
            </a:extLst>
          </p:cNvPr>
          <p:cNvSpPr txBox="1"/>
          <p:nvPr/>
        </p:nvSpPr>
        <p:spPr>
          <a:xfrm>
            <a:off x="8401050" y="3976687"/>
            <a:ext cx="30861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Inter"/>
              </a:rPr>
              <a:t>Масштабирование успешных изменений, исправление ошибок, запуск нового цикла.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5A0413D0-6FDE-898F-E992-AE4BF051F2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700" y="2566987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E872339D-155B-D7A9-DFEE-5E9BCDAE55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050" y="2566987"/>
            <a:ext cx="133350" cy="17145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5F51075D-BC89-09CA-C4CC-B25DD99BFF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8700" y="3729037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99ED5FEB-174E-1CB0-1F28-73826E461C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1050" y="3729037"/>
            <a:ext cx="171450" cy="1714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9E33F3F-3412-70C3-1691-9FC58635FF21}"/>
              </a:ext>
            </a:extLst>
          </p:cNvPr>
          <p:cNvSpPr txBox="1"/>
          <p:nvPr/>
        </p:nvSpPr>
        <p:spPr>
          <a:xfrm>
            <a:off x="5105400" y="2547937"/>
            <a:ext cx="276284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1. Plan (Планирование)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9A4F0D-55CE-C5C8-4D74-E74B387B026A}"/>
              </a:ext>
            </a:extLst>
          </p:cNvPr>
          <p:cNvSpPr txBox="1"/>
          <p:nvPr/>
        </p:nvSpPr>
        <p:spPr>
          <a:xfrm>
            <a:off x="8629650" y="2547937"/>
            <a:ext cx="202525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2. Do (Действие)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FC1097-EF38-A769-808F-7EBDF7601616}"/>
              </a:ext>
            </a:extLst>
          </p:cNvPr>
          <p:cNvSpPr txBox="1"/>
          <p:nvPr/>
        </p:nvSpPr>
        <p:spPr>
          <a:xfrm>
            <a:off x="5105400" y="3709987"/>
            <a:ext cx="242530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3. Check (Проверка)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9F9831-D38E-12D5-9256-790D9E12BB95}"/>
              </a:ext>
            </a:extLst>
          </p:cNvPr>
          <p:cNvSpPr txBox="1"/>
          <p:nvPr/>
        </p:nvSpPr>
        <p:spPr>
          <a:xfrm>
            <a:off x="8667750" y="3709987"/>
            <a:ext cx="228778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4. Act (Внедрение)</a:t>
            </a:r>
          </a:p>
        </p:txBody>
      </p:sp>
    </p:spTree>
    <p:extLst>
      <p:ext uri="{BB962C8B-B14F-4D97-AF65-F5344CB8AC3E}">
        <p14:creationId xmlns:p14="http://schemas.microsoft.com/office/powerpoint/2010/main" val="401641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 ПРАКТИЧЕСКИЙ ПРИМЕР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29350"/>
            <a:ext cx="110680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Цикличность: Данные отзывов запускают следующий виток планирования Слайд 03 / 06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731" y="3471862"/>
            <a:ext cx="1238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3471862"/>
            <a:ext cx="1238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443" y="3471862"/>
            <a:ext cx="123825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Montserrat"/>
              </a:rPr>
              <a:t>PDCA в IT: Разработка мобильного приложения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7725" y="4491037"/>
            <a:ext cx="1945481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98081" y="4491037"/>
            <a:ext cx="1945481" cy="26670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48437" y="4338637"/>
            <a:ext cx="1945481" cy="419100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398793" y="4491037"/>
            <a:ext cx="1945481" cy="266700"/>
          </a:xfrm>
          <a:prstGeom prst="roundRect">
            <a:avLst>
              <a:gd name="adj" fmla="val 21428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2025" y="4548187"/>
            <a:ext cx="181213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Результат: ТЗ &amp; Прототип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2381" y="4548187"/>
            <a:ext cx="181213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Inter"/>
              </a:rPr>
              <a:t>Результат: Рабочий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2737" y="4395787"/>
            <a:ext cx="181213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45309"/>
                </a:solidFill>
                <a:latin typeface="Inter"/>
              </a:rPr>
              <a:t>Результат: Отчет об ошибках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3093" y="4548187"/>
            <a:ext cx="181213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91C1C"/>
                </a:solidFill>
                <a:latin typeface="Inter"/>
              </a:rPr>
              <a:t>Результат: Релиз 2.0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725" y="2376487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98081" y="2376487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48437" y="2376487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398793" y="2376487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4850" y="237648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Inter"/>
              </a:rP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2909887"/>
            <a:ext cx="255344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План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5206" y="237648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98081" y="2909887"/>
            <a:ext cx="255344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Действие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5562" y="237648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8437" y="2909887"/>
            <a:ext cx="255344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Проверка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5918" y="2376487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8793" y="2909887"/>
            <a:ext cx="2553444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tserrat"/>
              </a:rPr>
              <a:t>Внедрение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3233737"/>
            <a:ext cx="24318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Цели разработки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3471862"/>
            <a:ext cx="24318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Функциональные ТЗ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725" y="3709987"/>
            <a:ext cx="24318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Прототип и ресурсы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98081" y="3233737"/>
            <a:ext cx="24318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Написание кода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98081" y="3471862"/>
            <a:ext cx="24318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Бета-тестирование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8081" y="3709987"/>
            <a:ext cx="24318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Сбор фидбека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8437" y="3233737"/>
            <a:ext cx="204073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Анализ продуктовых метрик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8437" y="3633787"/>
            <a:ext cx="24318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Сравнение с KPI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48437" y="3871912"/>
            <a:ext cx="24318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Поиск багов и проблем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98793" y="3233737"/>
            <a:ext cx="24318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Доработка функций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98793" y="3471862"/>
            <a:ext cx="24318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Релиз обновления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8793" y="3709987"/>
            <a:ext cx="243185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Inter"/>
              </a:rPr>
              <a:t>• Старт следующего спринта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15" grpId="0"/>
      <p:bldP spid="16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 ТАЙМЛАЙН ПРОЕКТА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238875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График реализации непрерывных улучшений продукта Слайд 04 / 06</a:t>
            </a:r>
          </a:p>
        </p:txBody>
      </p:sp>
      <p:sp>
        <p:nvSpPr>
          <p:cNvPr id="4" name="Rectangle 3"/>
          <p:cNvSpPr/>
          <p:nvPr/>
        </p:nvSpPr>
        <p:spPr>
          <a:xfrm>
            <a:off x="885825" y="2059185"/>
            <a:ext cx="104203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Montserrat"/>
              </a:rPr>
              <a:t>Дорожная карта реализации PDCA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1773435"/>
            <a:ext cx="105156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ЭТАПЫ </a:t>
            </a:r>
            <a:r>
              <a:rPr sz="1050" b="1" i="0" u="none">
                <a:solidFill>
                  <a:srgbClr val="0284C7"/>
                </a:solidFill>
                <a:latin typeface="Inter"/>
              </a:rPr>
              <a:t>Q1: PLAN</a:t>
            </a:r>
            <a:r>
              <a:rPr sz="1050" b="1" i="0" u="none">
                <a:solidFill>
                  <a:srgbClr val="64748B"/>
                </a:solidFill>
                <a:latin typeface="Inter"/>
              </a:rPr>
              <a:t> </a:t>
            </a:r>
            <a:r>
              <a:rPr sz="1050" b="1" i="0" u="none">
                <a:solidFill>
                  <a:srgbClr val="16A34A"/>
                </a:solidFill>
                <a:latin typeface="Inter"/>
              </a:rPr>
              <a:t>Q2: DO</a:t>
            </a:r>
            <a:r>
              <a:rPr sz="1050" b="1" i="0" u="none">
                <a:solidFill>
                  <a:srgbClr val="64748B"/>
                </a:solidFill>
                <a:latin typeface="Inter"/>
              </a:rPr>
              <a:t> </a:t>
            </a:r>
            <a:r>
              <a:rPr sz="1050" b="1" i="0" u="none">
                <a:solidFill>
                  <a:srgbClr val="D97706"/>
                </a:solidFill>
                <a:latin typeface="Inter"/>
              </a:rPr>
              <a:t>Q3: CHECK</a:t>
            </a:r>
            <a:r>
              <a:rPr sz="1050" b="1" i="0" u="none">
                <a:solidFill>
                  <a:srgbClr val="64748B"/>
                </a:solidFill>
                <a:latin typeface="Inter"/>
              </a:rPr>
              <a:t> </a:t>
            </a:r>
            <a:r>
              <a:rPr sz="1050" b="1" i="0" u="none">
                <a:solidFill>
                  <a:srgbClr val="DC2626"/>
                </a:solidFill>
                <a:latin typeface="Inter"/>
              </a:rPr>
              <a:t>Q4: 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95625" y="2501056"/>
            <a:ext cx="1966912" cy="361950"/>
          </a:xfrm>
          <a:prstGeom prst="roundRect">
            <a:avLst>
              <a:gd name="adj" fmla="val 21052"/>
            </a:avLst>
          </a:prstGeom>
          <a:solidFill>
            <a:srgbClr val="E0F2F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76837" y="3285827"/>
            <a:ext cx="1966912" cy="514350"/>
          </a:xfrm>
          <a:prstGeom prst="roundRect">
            <a:avLst>
              <a:gd name="adj" fmla="val 14814"/>
            </a:avLst>
          </a:prstGeom>
          <a:solidFill>
            <a:srgbClr val="DCFCE7"/>
          </a:solidFill>
          <a:ln w="9525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58050" y="4222998"/>
            <a:ext cx="1966912" cy="514350"/>
          </a:xfrm>
          <a:prstGeom prst="roundRect">
            <a:avLst>
              <a:gd name="adj" fmla="val 14814"/>
            </a:avLst>
          </a:prstGeom>
          <a:solidFill>
            <a:srgbClr val="FEF3C7"/>
          </a:solidFill>
          <a:ln w="9525">
            <a:solidFill>
              <a:srgbClr val="FACC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339262" y="5160168"/>
            <a:ext cx="1966912" cy="361950"/>
          </a:xfrm>
          <a:prstGeom prst="roundRect">
            <a:avLst>
              <a:gd name="adj" fmla="val 21052"/>
            </a:avLst>
          </a:prstGeom>
          <a:solidFill>
            <a:srgbClr val="FEE2E2"/>
          </a:solidFill>
          <a:ln w="9525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5825" y="2591544"/>
            <a:ext cx="2619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Исследования &amp; ТЗ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8975" y="2596306"/>
            <a:ext cx="17954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Анализ рынка &amp; Прототип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452514"/>
            <a:ext cx="2619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Пилотный запуск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0187" y="3381077"/>
            <a:ext cx="179546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Inter"/>
              </a:rPr>
              <a:t>Разработка MVP &amp; Бета-тест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389685"/>
            <a:ext cx="2619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Оценка результатов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1400" y="4318248"/>
            <a:ext cx="179546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45309"/>
                </a:solidFill>
                <a:latin typeface="Inter"/>
              </a:rPr>
              <a:t>Анализ метрик &amp; Погрешностей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5250656"/>
            <a:ext cx="2619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Масштабирование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2612" y="5255418"/>
            <a:ext cx="17954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91C1C"/>
                </a:solidFill>
                <a:latin typeface="Inter"/>
              </a:rPr>
              <a:t>Релиз 2.0 &amp; Новый цикл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 СРАВНИТЕЛЬНЫЙ АНАЛИЗ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29350"/>
            <a:ext cx="110680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Выбор методологии зависит от степени гибкости проекта Слайд 05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Montserrat"/>
              </a:rPr>
              <a:t>Преимущества и ограничения PDCA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600200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994" y="1600200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28725" y="1600200"/>
            <a:ext cx="311288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4532D"/>
                </a:solidFill>
                <a:latin typeface="Montserrat"/>
              </a:rPr>
              <a:t>Плюсы и возможности</a:t>
            </a: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EC3B60DC-81D8-CF67-2C93-617AB52513E5}"/>
              </a:ext>
            </a:extLst>
          </p:cNvPr>
          <p:cNvGrpSpPr/>
          <p:nvPr/>
        </p:nvGrpSpPr>
        <p:grpSpPr>
          <a:xfrm>
            <a:off x="885825" y="2019300"/>
            <a:ext cx="5737918" cy="2000250"/>
            <a:chOff x="885825" y="2019300"/>
            <a:chExt cx="5737918" cy="2000250"/>
          </a:xfrm>
        </p:grpSpPr>
        <p:sp>
          <p:nvSpPr>
            <p:cNvPr id="6" name="Rounded Rectangle 5"/>
            <p:cNvSpPr/>
            <p:nvPr/>
          </p:nvSpPr>
          <p:spPr>
            <a:xfrm>
              <a:off x="885825" y="2019300"/>
              <a:ext cx="2792759" cy="923925"/>
            </a:xfrm>
            <a:prstGeom prst="roundRect">
              <a:avLst>
                <a:gd name="adj" fmla="val 8247"/>
              </a:avLst>
            </a:prstGeom>
            <a:solidFill>
              <a:srgbClr val="FFFFFF"/>
            </a:solidFill>
            <a:ln w="9525">
              <a:solidFill>
                <a:srgbClr val="DCFCE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830984" y="2019300"/>
              <a:ext cx="2792759" cy="923925"/>
            </a:xfrm>
            <a:prstGeom prst="roundRect">
              <a:avLst>
                <a:gd name="adj" fmla="val 8247"/>
              </a:avLst>
            </a:prstGeom>
            <a:solidFill>
              <a:srgbClr val="FFFFFF"/>
            </a:solidFill>
            <a:ln w="9525">
              <a:solidFill>
                <a:srgbClr val="DCFCE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885825" y="3095625"/>
              <a:ext cx="2792759" cy="923925"/>
            </a:xfrm>
            <a:prstGeom prst="roundRect">
              <a:avLst>
                <a:gd name="adj" fmla="val 8247"/>
              </a:avLst>
            </a:prstGeom>
            <a:solidFill>
              <a:srgbClr val="FFFFFF"/>
            </a:solidFill>
            <a:ln w="9525">
              <a:solidFill>
                <a:srgbClr val="DCFCE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830984" y="3095625"/>
              <a:ext cx="2792759" cy="923925"/>
            </a:xfrm>
            <a:prstGeom prst="roundRect">
              <a:avLst>
                <a:gd name="adj" fmla="val 8247"/>
              </a:avLst>
            </a:prstGeom>
            <a:solidFill>
              <a:srgbClr val="FFFFFF"/>
            </a:solidFill>
            <a:ln w="9525">
              <a:solidFill>
                <a:srgbClr val="DCFCE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38225" y="2171700"/>
              <a:ext cx="2583209" cy="619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1" i="0" u="none">
                  <a:solidFill>
                    <a:srgbClr val="16A34A"/>
                  </a:solidFill>
                  <a:latin typeface="Inter"/>
                </a:rPr>
                <a:t>Бесконечный рост </a:t>
              </a:r>
              <a:r>
                <a:rPr sz="975" b="1" i="0" u="none">
                  <a:solidFill>
                    <a:srgbClr val="334155"/>
                  </a:solidFill>
                  <a:latin typeface="Inter"/>
                </a:rPr>
                <a:t>Регулярная оптимизация процессов без остановки развития.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83384" y="2171700"/>
              <a:ext cx="2583209" cy="619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1" i="0" u="none">
                  <a:solidFill>
                    <a:srgbClr val="16A34A"/>
                  </a:solidFill>
                  <a:latin typeface="Inter"/>
                </a:rPr>
                <a:t>Гибкость </a:t>
              </a:r>
              <a:r>
                <a:rPr sz="975" b="1" i="0" u="none">
                  <a:solidFill>
                    <a:srgbClr val="334155"/>
                  </a:solidFill>
                  <a:latin typeface="Inter"/>
                </a:rPr>
                <a:t>Применимость в любой сфере: от IT до тяжелого производства.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38225" y="3248025"/>
              <a:ext cx="2583209" cy="619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1" i="0" u="none">
                  <a:solidFill>
                    <a:srgbClr val="16A34A"/>
                  </a:solidFill>
                  <a:latin typeface="Inter"/>
                </a:rPr>
                <a:t>Решения на данных </a:t>
              </a:r>
              <a:r>
                <a:rPr sz="975" b="1" i="0" u="none">
                  <a:solidFill>
                    <a:srgbClr val="334155"/>
                  </a:solidFill>
                  <a:latin typeface="Inter"/>
                </a:rPr>
                <a:t>Опора на доказанные факты и тесты вместо гипотез.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83384" y="3248025"/>
              <a:ext cx="2583209" cy="619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1" i="0" u="none">
                  <a:solidFill>
                    <a:srgbClr val="16A34A"/>
                  </a:solidFill>
                  <a:latin typeface="Inter"/>
                </a:rPr>
                <a:t>Контроль рисков </a:t>
              </a:r>
              <a:r>
                <a:rPr sz="975" b="1" i="0" u="none">
                  <a:solidFill>
                    <a:srgbClr val="334155"/>
                  </a:solidFill>
                  <a:latin typeface="Inter"/>
                </a:rPr>
                <a:t>Проверка гипотез на малых масштабах предотвращает сбои.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823894" y="1600200"/>
            <a:ext cx="161270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7F1D1D"/>
                </a:solidFill>
                <a:latin typeface="Montserrat"/>
              </a:rPr>
              <a:t>Недостатки</a:t>
            </a:r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BF5B3437-B71E-C930-D680-4615C7B9B64C}"/>
              </a:ext>
            </a:extLst>
          </p:cNvPr>
          <p:cNvGrpSpPr/>
          <p:nvPr/>
        </p:nvGrpSpPr>
        <p:grpSpPr>
          <a:xfrm>
            <a:off x="7480994" y="2019300"/>
            <a:ext cx="3825180" cy="2000250"/>
            <a:chOff x="7480994" y="2019300"/>
            <a:chExt cx="3825180" cy="2000250"/>
          </a:xfrm>
        </p:grpSpPr>
        <p:sp>
          <p:nvSpPr>
            <p:cNvPr id="10" name="Rounded Rectangle 9"/>
            <p:cNvSpPr/>
            <p:nvPr/>
          </p:nvSpPr>
          <p:spPr>
            <a:xfrm>
              <a:off x="7480994" y="2019300"/>
              <a:ext cx="3825180" cy="923925"/>
            </a:xfrm>
            <a:prstGeom prst="roundRect">
              <a:avLst>
                <a:gd name="adj" fmla="val 8247"/>
              </a:avLst>
            </a:prstGeom>
            <a:solidFill>
              <a:srgbClr val="FFFFFF"/>
            </a:solidFill>
            <a:ln w="9525">
              <a:solidFill>
                <a:srgbClr val="FEE2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480994" y="3095625"/>
              <a:ext cx="3825180" cy="923925"/>
            </a:xfrm>
            <a:prstGeom prst="roundRect">
              <a:avLst>
                <a:gd name="adj" fmla="val 8247"/>
              </a:avLst>
            </a:prstGeom>
            <a:solidFill>
              <a:srgbClr val="FFFFFF"/>
            </a:solidFill>
            <a:ln w="9525">
              <a:solidFill>
                <a:srgbClr val="FEE2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633394" y="2171700"/>
              <a:ext cx="3615630" cy="619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1" i="0" u="none">
                  <a:solidFill>
                    <a:srgbClr val="DC2626"/>
                  </a:solidFill>
                  <a:latin typeface="Inter"/>
                </a:rPr>
                <a:t>Линейная модель </a:t>
              </a:r>
              <a:r>
                <a:rPr sz="975" b="1" i="0" u="none">
                  <a:solidFill>
                    <a:srgbClr val="334155"/>
                  </a:solidFill>
                  <a:latin typeface="Inter"/>
                </a:rPr>
                <a:t>Проблемы выявляются строго в процессе реализаций, а не заранее.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633394" y="3248025"/>
              <a:ext cx="3615630" cy="6191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25" b="1" i="0" u="none">
                  <a:solidFill>
                    <a:srgbClr val="DC2626"/>
                  </a:solidFill>
                  <a:latin typeface="Inter"/>
                </a:rPr>
                <a:t>Ограничение необратимости </a:t>
              </a:r>
              <a:r>
                <a:rPr sz="975" b="1" i="0" u="none">
                  <a:solidFill>
                    <a:srgbClr val="334155"/>
                  </a:solidFill>
                  <a:latin typeface="Inter"/>
                </a:rPr>
                <a:t>Не подходит для проектов с жестким финалом (например, строительство).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769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068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Inter"/>
              </a:rPr>
              <a:t> ИТОГИ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229350"/>
            <a:ext cx="110680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Цикл Деминга — основополагающий инструмент менеджмента качества Слайд 06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Montserrat"/>
              </a:rPr>
              <a:t>PDCA как Спираль Непрерывного Развития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6500" y="2290762"/>
            <a:ext cx="5295900" cy="695325"/>
          </a:xfrm>
          <a:prstGeom prst="roundRect">
            <a:avLst>
              <a:gd name="adj" fmla="val 1095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86500" y="3138487"/>
            <a:ext cx="5295900" cy="695325"/>
          </a:xfrm>
          <a:prstGeom prst="roundRect">
            <a:avLst>
              <a:gd name="adj" fmla="val 1095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86500" y="3986212"/>
            <a:ext cx="5295900" cy="857250"/>
          </a:xfrm>
          <a:prstGeom prst="roundRect">
            <a:avLst>
              <a:gd name="adj" fmla="val 888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233612"/>
            <a:ext cx="4572000" cy="2667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86500" y="2290762"/>
            <a:ext cx="38100" cy="69532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86500" y="3138487"/>
            <a:ext cx="38100" cy="695325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86500" y="3986212"/>
            <a:ext cx="38100" cy="8572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5100" y="2443162"/>
            <a:ext cx="56769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1. Постоянная адаптация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2671762"/>
            <a:ext cx="56769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Каждый новый цикл опирается на метрики и фидбек прошлого шага.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3290887"/>
            <a:ext cx="56769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2. Универсальность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3519487"/>
            <a:ext cx="56769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Подходит для продуктов, оптимизации поставок, рекламы и навыков.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4138612"/>
            <a:ext cx="56769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Inter"/>
              </a:rPr>
              <a:t>3. Устойчивый результат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4367212"/>
            <a:ext cx="4972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Inter"/>
              </a:rPr>
              <a:t>Пошаговые доработки создают долгосрочное преимущество перед конкурентами.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63</cp:revision>
  <dcterms:created xsi:type="dcterms:W3CDTF">2013-01-27T09:14:16Z</dcterms:created>
  <dcterms:modified xsi:type="dcterms:W3CDTF">2026-09-11T18:31:07Z</dcterms:modified>
  <cp:category/>
</cp:coreProperties>
</file>