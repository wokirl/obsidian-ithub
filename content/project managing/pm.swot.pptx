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12.jpeg" ContentType="image/jpeg"/>
  <Override PartName="/ppt/media/image9.jpeg" ContentType="image/jpeg"/>
  <Override PartName="/ppt/media/image7.jpeg" ContentType="image/jpeg"/>
  <Override PartName="/ppt/media/image10.jpeg" ContentType="image/jpeg"/>
  <Override PartName="/ppt/media/image20.png" ContentType="image/png"/>
  <Override PartName="/ppt/media/image11.jpeg" ContentType="image/jpeg"/>
  <Override PartName="/ppt/media/image8.jpeg" ContentType="image/jpeg"/>
  <Override PartName="/ppt/media/image28.png" ContentType="image/png"/>
  <Override PartName="/ppt/media/image6.jpeg" ContentType="image/jpeg"/>
  <Override PartName="/ppt/media/image1.png" ContentType="image/png"/>
  <Override PartName="/ppt/media/image5.jpeg" ContentType="image/jpeg"/>
  <Override PartName="/ppt/media/image2.svg" ContentType="image/svg"/>
  <Override PartName="/ppt/media/image4.jpeg" ContentType="image/jpeg"/>
  <Override PartName="/ppt/media/image25.png" ContentType="image/png"/>
  <Override PartName="/ppt/media/image3.png" ContentType="image/png"/>
  <Override PartName="/ppt/media/media27.mp4" ContentType="video/mp4"/>
  <Override PartName="/ppt/media/image15.jpeg" ContentType="image/jpeg"/>
  <Override PartName="/ppt/media/image24.jpeg" ContentType="image/jpeg"/>
  <Override PartName="/ppt/media/image22.jpeg" ContentType="image/jpeg"/>
  <Override PartName="/ppt/media/image13.jpeg" ContentType="image/jpeg"/>
  <Override PartName="/ppt/media/image23.jpeg" ContentType="image/jpeg"/>
  <Override PartName="/ppt/media/image21.png" ContentType="image/png"/>
  <Override PartName="/ppt/media/image19.png" ContentType="image/png"/>
  <Override PartName="/ppt/media/image14.png" ContentType="image/png"/>
  <Override PartName="/ppt/media/image26.png" ContentType="image/png"/>
  <Override PartName="/ppt/media/image18.jpeg" ContentType="image/jpeg"/>
  <Override PartName="/ppt/media/image17.png" ContentType="image/png"/>
  <Override PartName="/ppt/media/image16.png" ContentType="image/png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VeniceBeachV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DF010D-C9E4-4384-9BEB-B4188AA152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1-title-Title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A6D149E-AD37-4377-9AA6-F55EDF2912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2-obj-Title-and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34ABB46-B274-4AD8-914D-66D76BD69E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3-secHead-Section-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CB07DB3-ADB6-40F6-A6B1-9D0D09DFD8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4-twoObj-Two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756DB83-FEE5-40E4-B46D-8F53227398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5-twoTxTwoObj-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F7D8EE8-535B-4479-9C4F-BFA4DA1DD1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6-titleOnly-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009092C-72EC-411B-9835-399CA14F15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7-blank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5F56C95-FFA9-48EB-8650-36566B9054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EEE4313-1859-4E28-85C7-D4BA74E630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8-objTx-Content-with-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F207736-E3F3-42E8-841C-6ACA8F8F60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9-picTx-Picture-with-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0144013-C9A7-4097-87AE-52642EA0E6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10-vertTx-Title-and-Vertica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C72AD03-77B3-43E7-B57E-693141F8FE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11-vertTitleAndTx-Vertical-Title-and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3432BEB-59C0-4198-B2EE-693FA1C3D4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12-cust--Content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EF56CD8F-A2DB-4C7B-8E76-85266B3BBC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6"/>
          <p:cNvGrpSpPr/>
          <p:nvPr/>
        </p:nvGrpSpPr>
        <p:grpSpPr>
          <a:xfrm>
            <a:off x="11626200" y="3551400"/>
            <a:ext cx="567000" cy="3306240"/>
            <a:chOff x="11626200" y="3551400"/>
            <a:chExt cx="567000" cy="3306240"/>
          </a:xfrm>
        </p:grpSpPr>
        <p:sp>
          <p:nvSpPr>
            <p:cNvPr id="1" name="Freeform: Shape 7"/>
            <p:cNvSpPr/>
            <p:nvPr/>
          </p:nvSpPr>
          <p:spPr>
            <a:xfrm>
              <a:off x="11626200" y="3551400"/>
              <a:ext cx="525960" cy="2930400"/>
            </a:xfrm>
            <a:custGeom>
              <a:avLst/>
              <a:gdLst>
                <a:gd name="textAreaLeft" fmla="*/ 0 w 525960"/>
                <a:gd name="textAreaRight" fmla="*/ 526680 w 525960"/>
                <a:gd name="textAreaTop" fmla="*/ 0 h 2930400"/>
                <a:gd name="textAreaBottom" fmla="*/ 2931120 h 2930400"/>
              </a:gdLst>
              <a:ah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100000" sy="100000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0" lang="ru-R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" name="Rectangle 8"/>
            <p:cNvSpPr/>
            <p:nvPr/>
          </p:nvSpPr>
          <p:spPr>
            <a:xfrm flipH="1">
              <a:off x="11986560" y="4836600"/>
              <a:ext cx="206280" cy="2021040"/>
            </a:xfrm>
            <a:custGeom>
              <a:avLst/>
              <a:gdLst>
                <a:gd name="textAreaLeft" fmla="*/ -360 w 206280"/>
                <a:gd name="textAreaRight" fmla="*/ 206280 w 206280"/>
                <a:gd name="textAreaTop" fmla="*/ 0 h 2021040"/>
                <a:gd name="textAreaBottom" fmla="*/ 2021400 h 202104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c6d6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0" lang="ru-RU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8"/>
          <p:cNvSpPr>
            <a:spLocks noGrp="1"/>
          </p:cNvSpPr>
          <p:nvPr>
            <p:ph type="ftr" idx="1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9"/>
          <p:cNvSpPr>
            <a:spLocks noGrp="1"/>
          </p:cNvSpPr>
          <p:nvPr>
            <p:ph type="sldNum" idx="2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6528BD-53B2-4874-9EDE-C160E5D19E61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10"/>
          <p:cNvSpPr>
            <a:spLocks noGrp="1"/>
          </p:cNvSpPr>
          <p:nvPr>
            <p:ph type="dt" idx="3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6"/>
          <p:cNvGrpSpPr/>
          <p:nvPr/>
        </p:nvGrpSpPr>
        <p:grpSpPr>
          <a:xfrm>
            <a:off x="0" y="-720"/>
            <a:ext cx="566640" cy="3306240"/>
            <a:chOff x="0" y="-720"/>
            <a:chExt cx="566640" cy="3306240"/>
          </a:xfrm>
        </p:grpSpPr>
        <p:sp>
          <p:nvSpPr>
            <p:cNvPr id="14" name="Freeform: Shape 7"/>
            <p:cNvSpPr/>
            <p:nvPr/>
          </p:nvSpPr>
          <p:spPr>
            <a:xfrm flipH="1" flipV="1">
              <a:off x="39960" y="375120"/>
              <a:ext cx="525960" cy="2930400"/>
            </a:xfrm>
            <a:custGeom>
              <a:avLst/>
              <a:gdLst>
                <a:gd name="textAreaLeft" fmla="*/ 360 w 525960"/>
                <a:gd name="textAreaRight" fmla="*/ 527040 w 525960"/>
                <a:gd name="textAreaTop" fmla="*/ -360 h 2930400"/>
                <a:gd name="textAreaBottom" fmla="*/ 2930760 h 2930400"/>
              </a:gdLst>
              <a:ah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65" sy="5965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0" lang="ru-R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5" name="Rectangle 8"/>
            <p:cNvSpPr/>
            <p:nvPr/>
          </p:nvSpPr>
          <p:spPr>
            <a:xfrm flipV="1">
              <a:off x="0" y="-720"/>
              <a:ext cx="206280" cy="2021040"/>
            </a:xfrm>
            <a:custGeom>
              <a:avLst/>
              <a:gdLst>
                <a:gd name="textAreaLeft" fmla="*/ 0 w 206280"/>
                <a:gd name="textAreaRight" fmla="*/ 206640 w 206280"/>
                <a:gd name="textAreaTop" fmla="*/ 360 h 2021040"/>
                <a:gd name="textAreaBottom" fmla="*/ 2021760 h 202104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c6d6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0" lang="ru-RU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8"/>
          <p:cNvSpPr>
            <a:spLocks noGrp="1"/>
          </p:cNvSpPr>
          <p:nvPr>
            <p:ph type="ftr" idx="4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9"/>
          <p:cNvSpPr>
            <a:spLocks noGrp="1"/>
          </p:cNvSpPr>
          <p:nvPr>
            <p:ph type="sldNum" idx="5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DB7C41-4D2A-473F-9615-98FD1B95DB9C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10"/>
          <p:cNvSpPr>
            <a:spLocks noGrp="1"/>
          </p:cNvSpPr>
          <p:nvPr>
            <p:ph type="dt" idx="6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8"/>
          <p:cNvSpPr>
            <a:spLocks noGrp="1"/>
          </p:cNvSpPr>
          <p:nvPr>
            <p:ph type="ftr" idx="7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9"/>
          <p:cNvSpPr>
            <a:spLocks noGrp="1"/>
          </p:cNvSpPr>
          <p:nvPr>
            <p:ph type="sldNum" idx="8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4A535E-D236-4B7E-B4AA-820900E4AF35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10"/>
          <p:cNvSpPr>
            <a:spLocks noGrp="1"/>
          </p:cNvSpPr>
          <p:nvPr>
            <p:ph type="dt" idx="9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7"/>
          <p:cNvSpPr/>
          <p:nvPr/>
        </p:nvSpPr>
        <p:spPr>
          <a:xfrm>
            <a:off x="3242880" y="511920"/>
            <a:ext cx="5705640" cy="5705640"/>
          </a:xfrm>
          <a:custGeom>
            <a:avLst/>
            <a:gdLst>
              <a:gd name="textAreaLeft" fmla="*/ 835560 w 5705640"/>
              <a:gd name="textAreaRight" fmla="*/ 4870440 w 5705640"/>
              <a:gd name="textAreaTop" fmla="*/ 835560 h 5705640"/>
              <a:gd name="textAreaBottom" fmla="*/ 4870440 h 5705640"/>
            </a:gdLst>
            <a:ah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0800" hR="10800" stAng="-10800000" swAng="21550000"/>
                <a:close/>
              </a:path>
            </a:pathLst>
          </a:custGeom>
          <a:solidFill>
            <a:srgbClr val="ffe7d9"/>
          </a:solidFill>
          <a:ln w="0">
            <a:noFill/>
          </a:ln>
          <a:effectLst>
            <a:outerShdw blurRad="0" dir="2219716" dist="16452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ftr" idx="10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9"/>
          <p:cNvSpPr>
            <a:spLocks noGrp="1"/>
          </p:cNvSpPr>
          <p:nvPr>
            <p:ph type="sldNum" idx="11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AEBABD-F48B-4C41-9906-8ACBE6D203DA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10"/>
          <p:cNvSpPr>
            <a:spLocks noGrp="1"/>
          </p:cNvSpPr>
          <p:nvPr>
            <p:ph type="dt" idx="12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ftr" idx="13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9"/>
          <p:cNvSpPr>
            <a:spLocks noGrp="1"/>
          </p:cNvSpPr>
          <p:nvPr>
            <p:ph type="sldNum" idx="14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616142-AE4F-448D-A86E-7EF88D8D5E36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10"/>
          <p:cNvSpPr>
            <a:spLocks noGrp="1"/>
          </p:cNvSpPr>
          <p:nvPr>
            <p:ph type="dt" idx="15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8"/>
          <p:cNvSpPr>
            <a:spLocks noGrp="1"/>
          </p:cNvSpPr>
          <p:nvPr>
            <p:ph type="ftr" idx="16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9"/>
          <p:cNvSpPr>
            <a:spLocks noGrp="1"/>
          </p:cNvSpPr>
          <p:nvPr>
            <p:ph type="sldNum" idx="17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6E544C-B235-4144-9264-E4D183B7A95F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10"/>
          <p:cNvSpPr>
            <a:spLocks noGrp="1"/>
          </p:cNvSpPr>
          <p:nvPr>
            <p:ph type="dt" idx="18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  <a:effectLst>
            <a:outerShdw dist="164444" dir="18900000" blurRad="0" rotWithShape="0">
              <a:srgbClr val="000000"/>
            </a:outerShdw>
          </a:effectLst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8"/>
          <p:cNvSpPr>
            <a:spLocks noGrp="1"/>
          </p:cNvSpPr>
          <p:nvPr>
            <p:ph type="ftr" idx="19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9"/>
          <p:cNvSpPr>
            <a:spLocks noGrp="1"/>
          </p:cNvSpPr>
          <p:nvPr>
            <p:ph type="sldNum" idx="20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515824-51EA-43DF-9181-892AFF58507E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10"/>
          <p:cNvSpPr>
            <a:spLocks noGrp="1"/>
          </p:cNvSpPr>
          <p:nvPr>
            <p:ph type="dt" idx="21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8"/>
          <p:cNvSpPr>
            <a:spLocks noGrp="1"/>
          </p:cNvSpPr>
          <p:nvPr>
            <p:ph type="ftr" idx="22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9"/>
          <p:cNvSpPr>
            <a:spLocks noGrp="1"/>
          </p:cNvSpPr>
          <p:nvPr>
            <p:ph type="sldNum" idx="23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944B3E-F51F-4BDC-9F2C-972C805CDA10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10"/>
          <p:cNvSpPr>
            <a:spLocks noGrp="1"/>
          </p:cNvSpPr>
          <p:nvPr>
            <p:ph type="dt" idx="24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25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26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9738AE-6151-433E-9021-93C831C94989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dt" idx="27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8"/>
          <p:cNvSpPr>
            <a:spLocks noGrp="1"/>
          </p:cNvSpPr>
          <p:nvPr>
            <p:ph type="ftr" idx="28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9"/>
          <p:cNvSpPr>
            <a:spLocks noGrp="1"/>
          </p:cNvSpPr>
          <p:nvPr>
            <p:ph type="sldNum" idx="29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2E14B3-2919-4DEE-BD75-346753D3F907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10"/>
          <p:cNvSpPr>
            <a:spLocks noGrp="1"/>
          </p:cNvSpPr>
          <p:nvPr>
            <p:ph type="dt" idx="30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8"/>
          <p:cNvSpPr>
            <a:spLocks noGrp="1"/>
          </p:cNvSpPr>
          <p:nvPr>
            <p:ph type="ftr" idx="31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9"/>
          <p:cNvSpPr>
            <a:spLocks noGrp="1"/>
          </p:cNvSpPr>
          <p:nvPr>
            <p:ph type="sldNum" idx="32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F7635E-4F29-41C7-8D6E-38322B9F4153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10"/>
          <p:cNvSpPr>
            <a:spLocks noGrp="1"/>
          </p:cNvSpPr>
          <p:nvPr>
            <p:ph type="dt" idx="33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6"/>
          <p:cNvGrpSpPr/>
          <p:nvPr/>
        </p:nvGrpSpPr>
        <p:grpSpPr>
          <a:xfrm>
            <a:off x="0" y="3551400"/>
            <a:ext cx="567000" cy="3306240"/>
            <a:chOff x="0" y="3551400"/>
            <a:chExt cx="567000" cy="3306240"/>
          </a:xfrm>
        </p:grpSpPr>
        <p:sp>
          <p:nvSpPr>
            <p:cNvPr id="117" name="Freeform: Shape 7"/>
            <p:cNvSpPr/>
            <p:nvPr/>
          </p:nvSpPr>
          <p:spPr>
            <a:xfrm flipH="1">
              <a:off x="40680" y="3551400"/>
              <a:ext cx="525960" cy="2930400"/>
            </a:xfrm>
            <a:custGeom>
              <a:avLst/>
              <a:gdLst>
                <a:gd name="textAreaLeft" fmla="*/ 360 w 525960"/>
                <a:gd name="textAreaRight" fmla="*/ 527040 w 525960"/>
                <a:gd name="textAreaTop" fmla="*/ 0 h 2930400"/>
                <a:gd name="textAreaBottom" fmla="*/ 2931120 h 2930400"/>
              </a:gdLst>
              <a:ah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65" sy="5965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0" lang="ru-R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" name="Rectangle 8"/>
            <p:cNvSpPr/>
            <p:nvPr/>
          </p:nvSpPr>
          <p:spPr>
            <a:xfrm>
              <a:off x="0" y="4836600"/>
              <a:ext cx="206280" cy="2021040"/>
            </a:xfrm>
            <a:custGeom>
              <a:avLst/>
              <a:gdLst>
                <a:gd name="textAreaLeft" fmla="*/ 0 w 206280"/>
                <a:gd name="textAreaRight" fmla="*/ 206640 w 206280"/>
                <a:gd name="textAreaTop" fmla="*/ 0 h 2021040"/>
                <a:gd name="textAreaBottom" fmla="*/ 2021400 h 202104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c6d6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0" lang="ru-RU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vert="eaVer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vert="eaVer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vert="eaVer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vert="eaVer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vert="eaVer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vert="eaVer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8"/>
          <p:cNvSpPr>
            <a:spLocks noGrp="1"/>
          </p:cNvSpPr>
          <p:nvPr>
            <p:ph type="ftr" idx="34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9"/>
          <p:cNvSpPr>
            <a:spLocks noGrp="1"/>
          </p:cNvSpPr>
          <p:nvPr>
            <p:ph type="sldNum" idx="35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022AD7-7D95-4AE7-AE02-452782CAF1D7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PlaceHolder 10"/>
          <p:cNvSpPr>
            <a:spLocks noGrp="1"/>
          </p:cNvSpPr>
          <p:nvPr>
            <p:ph type="dt" idx="36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6"/>
          <p:cNvGrpSpPr/>
          <p:nvPr/>
        </p:nvGrpSpPr>
        <p:grpSpPr>
          <a:xfrm>
            <a:off x="0" y="3551400"/>
            <a:ext cx="567000" cy="3306240"/>
            <a:chOff x="0" y="3551400"/>
            <a:chExt cx="567000" cy="3306240"/>
          </a:xfrm>
        </p:grpSpPr>
        <p:sp>
          <p:nvSpPr>
            <p:cNvPr id="130" name="Freeform: Shape 7"/>
            <p:cNvSpPr/>
            <p:nvPr/>
          </p:nvSpPr>
          <p:spPr>
            <a:xfrm flipH="1">
              <a:off x="40680" y="3551400"/>
              <a:ext cx="525960" cy="2930400"/>
            </a:xfrm>
            <a:custGeom>
              <a:avLst/>
              <a:gdLst>
                <a:gd name="textAreaLeft" fmla="*/ 360 w 525960"/>
                <a:gd name="textAreaRight" fmla="*/ 527040 w 525960"/>
                <a:gd name="textAreaTop" fmla="*/ 0 h 2930400"/>
                <a:gd name="textAreaBottom" fmla="*/ 2931120 h 2930400"/>
              </a:gdLst>
              <a:ahLst/>
              <a:rect l="textAreaLeft" t="textAreaTop" r="textAreaRight" b="textAreaBottom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0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5965" sy="5965" algn="tl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0" lang="ru-RU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" name="Rectangle 8"/>
            <p:cNvSpPr/>
            <p:nvPr/>
          </p:nvSpPr>
          <p:spPr>
            <a:xfrm>
              <a:off x="0" y="4836600"/>
              <a:ext cx="206280" cy="2021040"/>
            </a:xfrm>
            <a:custGeom>
              <a:avLst/>
              <a:gdLst>
                <a:gd name="textAreaLeft" fmla="*/ 0 w 206280"/>
                <a:gd name="textAreaRight" fmla="*/ 206640 w 206280"/>
                <a:gd name="textAreaTop" fmla="*/ 0 h 2021040"/>
                <a:gd name="textAreaBottom" fmla="*/ 2021400 h 202104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c6d6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b="0" lang="ru-RU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 vert="eaVert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vert="eaVer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vert="eaVer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vert="eaVer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vert="eaVer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vert="eaVer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 vert="eaVert">
            <a:normAutofit fontScale="1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8"/>
          <p:cNvSpPr>
            <a:spLocks noGrp="1"/>
          </p:cNvSpPr>
          <p:nvPr>
            <p:ph type="ftr" idx="37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PlaceHolder 9"/>
          <p:cNvSpPr>
            <a:spLocks noGrp="1"/>
          </p:cNvSpPr>
          <p:nvPr>
            <p:ph type="sldNum" idx="38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AFD67C-FBA3-429B-8B54-E81B72550EEB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PlaceHolder 10"/>
          <p:cNvSpPr>
            <a:spLocks noGrp="1"/>
          </p:cNvSpPr>
          <p:nvPr>
            <p:ph type="dt" idx="39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8"/>
          <p:cNvSpPr>
            <a:spLocks noGrp="1"/>
          </p:cNvSpPr>
          <p:nvPr>
            <p:ph type="ftr" idx="40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&lt;footer&gt;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PlaceHolder 9"/>
          <p:cNvSpPr>
            <a:spLocks noGrp="1"/>
          </p:cNvSpPr>
          <p:nvPr>
            <p:ph type="sldNum" idx="41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D4A007-DE7F-42BF-BEE3-4536FD520A84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10"/>
          <p:cNvSpPr>
            <a:spLocks noGrp="1"/>
          </p:cNvSpPr>
          <p:nvPr>
            <p:ph type="dt" idx="42"/>
          </p:nvPr>
        </p:nvSpPr>
        <p:spPr>
          <a:xfrm>
            <a:off x="9217440" y="214920"/>
            <a:ext cx="1485720" cy="338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5.jpeg"/><Relationship Id="rId3" Type="http://schemas.openxmlformats.org/officeDocument/2006/relationships/image" Target="../media/image15.jpeg"/><Relationship Id="rId4" Type="http://schemas.openxmlformats.org/officeDocument/2006/relationships/image" Target="../media/image15.jpe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18.jpeg"/><Relationship Id="rId5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6.jpeg"/><Relationship Id="rId3" Type="http://schemas.openxmlformats.org/officeDocument/2006/relationships/image" Target="../media/image5.jpe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image" Target="../media/image23.jpeg"/><Relationship Id="rId3" Type="http://schemas.openxmlformats.org/officeDocument/2006/relationships/image" Target="../media/image24.jpe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Layout" Target="../slideLayouts/slideLayout1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video" Target="../media/media27.mp4"/><Relationship Id="rId2" Type="http://schemas.microsoft.com/office/2007/relationships/media" Target="../media/media27.mp4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" descr=""/>
          <p:cNvPicPr/>
          <p:nvPr/>
        </p:nvPicPr>
        <p:blipFill>
          <a:blip r:embed="rId1">
            <a:alphaModFix amt="80000"/>
          </a:blip>
          <a:stretch/>
        </p:blipFill>
        <p:spPr>
          <a:xfrm>
            <a:off x="-26640" y="-154440"/>
            <a:ext cx="12419640" cy="7174080"/>
          </a:xfrm>
          <a:prstGeom prst="rect">
            <a:avLst/>
          </a:prstGeom>
          <a:ln w="0">
            <a:noFill/>
          </a:ln>
          <a:effectLst>
            <a:softEdge rad="88920"/>
          </a:effectLst>
        </p:spPr>
      </p:pic>
      <p:sp>
        <p:nvSpPr>
          <p:cNvPr id="153" name="TextBox 18"/>
          <p:cNvSpPr/>
          <p:nvPr/>
        </p:nvSpPr>
        <p:spPr>
          <a:xfrm rot="21275400">
            <a:off x="3107880" y="5258520"/>
            <a:ext cx="6188400" cy="1310400"/>
          </a:xfrm>
          <a:prstGeom prst="rect">
            <a:avLst/>
          </a:prstGeom>
          <a:solidFill>
            <a:srgbClr val="00b0f0">
              <a:alpha val="26000"/>
            </a:srgbClr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4000" spc="-1" strike="noStrike">
                <a:solidFill>
                  <a:srgbClr val="92d050"/>
                </a:solidFill>
                <a:latin typeface="Avenir Next LT Pro"/>
              </a:rPr>
              <a:t>S</a:t>
            </a:r>
            <a:r>
              <a:rPr b="1" lang="ru-RU" sz="4000" spc="-1" strike="noStrike">
                <a:solidFill>
                  <a:srgbClr val="000000"/>
                </a:solidFill>
                <a:latin typeface="Avenir Next LT Pro"/>
              </a:rPr>
              <a:t> </a:t>
            </a:r>
            <a:r>
              <a:rPr b="1" lang="ru-RU" sz="40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➡ </a:t>
            </a:r>
            <a:r>
              <a:rPr b="1" lang="ru-RU" sz="4000" spc="-1" strike="noStrike">
                <a:solidFill>
                  <a:srgbClr val="ec6d60"/>
                </a:solidFill>
                <a:latin typeface="Avenir Next LT Pro"/>
                <a:ea typeface="Avenir Next LT Pro"/>
              </a:rPr>
              <a:t>W </a:t>
            </a:r>
            <a:r>
              <a:rPr b="1" lang="ru-RU" sz="40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➡ </a:t>
            </a:r>
            <a:r>
              <a:rPr b="1" lang="ru-RU" sz="4000" spc="-1" strike="noStrike">
                <a:solidFill>
                  <a:srgbClr val="00b0f0"/>
                </a:solidFill>
                <a:latin typeface="Avenir Next LT Pro"/>
                <a:ea typeface="Avenir Next LT Pro"/>
              </a:rPr>
              <a:t>O </a:t>
            </a:r>
            <a:r>
              <a:rPr b="1" lang="ru-RU" sz="40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➡ </a:t>
            </a:r>
            <a:r>
              <a:rPr b="1" lang="ru-RU" sz="4000" spc="-1" strike="noStrike">
                <a:solidFill>
                  <a:srgbClr val="ffc000"/>
                </a:solidFill>
                <a:latin typeface="Avenir Next LT Pro"/>
                <a:ea typeface="Avenir Next LT Pro"/>
              </a:rPr>
              <a:t>T </a:t>
            </a:r>
            <a:r>
              <a:rPr b="1" lang="ru-RU" sz="40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➡💡</a:t>
            </a:r>
            <a:endParaRPr b="0" lang="ru-RU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080000" y="865800"/>
            <a:ext cx="8340480" cy="3453840"/>
          </a:xfrm>
          <a:prstGeom prst="rect">
            <a:avLst/>
          </a:prstGeom>
          <a:noFill/>
          <a:ln w="12600">
            <a:noFill/>
          </a:ln>
          <a:effectLst>
            <a:outerShdw dist="50760" dir="10800000" blurRad="0" rotWithShape="0">
              <a:srgbClr val="2f4f4f"/>
            </a:outerShdw>
          </a:effectLst>
        </p:spPr>
        <p:txBody>
          <a:bodyPr lIns="91440" rIns="91440" tIns="45720" bIns="45720" anchor="ctr">
            <a:normAutofit fontScale="85555" lnSpcReduction="20000"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5400" spc="1299" strike="noStrike" cap="all">
                <a:solidFill>
                  <a:srgbClr val="000000"/>
                </a:solidFill>
                <a:latin typeface="Avenir Next LT Pro Light"/>
              </a:rPr>
              <a:t>SWOT-анализ: </a:t>
            </a:r>
            <a:br>
              <a:rPr sz="5400"/>
            </a:br>
            <a:r>
              <a:rPr b="1" lang="en-US" sz="5400" spc="1299" strike="noStrike" cap="all">
                <a:solidFill>
                  <a:srgbClr val="000000"/>
                </a:solidFill>
                <a:latin typeface="Avenir Next LT Pro Light"/>
              </a:rPr>
              <a:t>от теории к </a:t>
            </a:r>
            <a:r>
              <a:rPr b="1" lang="en-US" sz="5400" spc="1299" strike="noStrike" cap="all">
                <a:solidFill>
                  <a:srgbClr val="000000"/>
                </a:solidFill>
                <a:latin typeface="Avenir Next LT Pro Light"/>
              </a:rPr>
              <a:t>практике на </a:t>
            </a:r>
            <a:r>
              <a:rPr b="1" lang="en-US" sz="5400" spc="1299" strike="noStrike" cap="all">
                <a:solidFill>
                  <a:srgbClr val="000000"/>
                </a:solidFill>
                <a:latin typeface="Avenir Next LT Pro Light"/>
              </a:rPr>
              <a:t>примере </a:t>
            </a:r>
            <a:r>
              <a:rPr b="1" lang="en-US" sz="5400" spc="1299" strike="noStrike" cap="all">
                <a:solidFill>
                  <a:srgbClr val="000000"/>
                </a:solidFill>
                <a:latin typeface="Avenir Next LT Pro Light"/>
              </a:rPr>
              <a:t>котиков</a:t>
            </a:r>
            <a:endParaRPr b="0" lang="ru-RU" sz="5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0000"/>
              </a:lnSpc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1260000" y="4320000"/>
            <a:ext cx="3599640" cy="1799640"/>
          </a:xfrm>
          <a:prstGeom prst="rect">
            <a:avLst/>
          </a:prstGeom>
          <a:noFill/>
          <a:ln w="12600">
            <a:noFill/>
          </a:ln>
          <a:effectLst>
            <a:outerShdw dist="38160" dir="0" blurRad="101520" rotWithShape="0">
              <a:srgbClr val="ffffff">
                <a:alpha val="88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000" spc="596" strike="noStrike" cap="all">
                <a:solidFill>
                  <a:srgbClr val="424242"/>
                </a:solidFill>
                <a:highlight>
                  <a:srgbClr val="faebd7"/>
                </a:highlight>
                <a:latin typeface="Avenir Next LT Pro"/>
              </a:rPr>
              <a:t>Что такое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000" spc="596" strike="noStrike" cap="all">
                <a:solidFill>
                  <a:srgbClr val="424242"/>
                </a:solidFill>
                <a:highlight>
                  <a:srgbClr val="faebd7"/>
                </a:highlight>
                <a:latin typeface="Avenir Next LT Pro"/>
              </a:rPr>
              <a:t>Зачем использовать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000" spc="596" strike="noStrike" cap="all">
                <a:solidFill>
                  <a:srgbClr val="424242"/>
                </a:solidFill>
                <a:highlight>
                  <a:srgbClr val="faebd7"/>
                </a:highlight>
                <a:latin typeface="Avenir Next LT Pro"/>
              </a:rPr>
              <a:t>Как применять 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dt" idx="43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4C5A6C1-3981-423A-B756-02A2EFD427C2}" type="datetime">
              <a:rPr b="0" lang="ru-RU" sz="1000" spc="94" strike="noStrike">
                <a:solidFill>
                  <a:srgbClr val="000000"/>
                </a:solidFill>
                <a:latin typeface="Avenir Next LT Pro"/>
              </a:rPr>
              <a:t>23.9.26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ftr" idx="44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             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sldNum" idx="45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7E8FE5-ED1C-4DDC-A3A4-337D688F40C4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>
            <a:alphaModFix amt="50000"/>
          </a:blip>
          <a:stretch/>
        </p:blipFill>
        <p:spPr>
          <a:xfrm rot="21565800">
            <a:off x="8834760" y="3610440"/>
            <a:ext cx="2247120" cy="2990160"/>
          </a:xfrm>
          <a:prstGeom prst="rect">
            <a:avLst/>
          </a:prstGeom>
          <a:ln w="0">
            <a:noFill/>
          </a:ln>
        </p:spPr>
      </p:pic>
      <p:pic>
        <p:nvPicPr>
          <p:cNvPr id="160" name="" descr=""/>
          <p:cNvPicPr/>
          <p:nvPr/>
        </p:nvPicPr>
        <p:blipFill>
          <a:blip r:embed="rId2">
            <a:alphaModFix amt="50000"/>
          </a:blip>
          <a:stretch/>
        </p:blipFill>
        <p:spPr>
          <a:xfrm>
            <a:off x="7224480" y="540000"/>
            <a:ext cx="4967280" cy="3311280"/>
          </a:xfrm>
          <a:prstGeom prst="rect">
            <a:avLst/>
          </a:prstGeom>
          <a:ln w="0">
            <a:noFill/>
          </a:ln>
        </p:spPr>
      </p:pic>
      <p:pic>
        <p:nvPicPr>
          <p:cNvPr id="161" name="" descr="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3380040" y="1260000"/>
            <a:ext cx="2379600" cy="2339640"/>
          </a:xfrm>
          <a:prstGeom prst="rect">
            <a:avLst/>
          </a:prstGeom>
          <a:ln w="0">
            <a:noFill/>
          </a:ln>
        </p:spPr>
      </p:pic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42440" y="-90000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ru-RU" sz="1400" spc="695" strike="noStrike" cap="all">
                <a:solidFill>
                  <a:srgbClr val="00b0f0"/>
                </a:solidFill>
                <a:latin typeface="Avenir Next LT Pro Light"/>
              </a:rPr>
              <a:t>Определение и структура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ftr" idx="46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             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47"/>
          </p:nvPr>
        </p:nvSpPr>
        <p:spPr>
          <a:xfrm>
            <a:off x="9217440" y="214920"/>
            <a:ext cx="1485720" cy="338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EC6AA2-E346-495A-98F5-B45CCE633DA9}" type="datetime">
              <a:rPr b="0" lang="ru-RU" sz="1000" spc="94" strike="noStrike">
                <a:solidFill>
                  <a:srgbClr val="000000"/>
                </a:solidFill>
                <a:latin typeface="Avenir Next LT Pro"/>
              </a:rPr>
              <a:t>23.9.26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sldNum" idx="48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42F5C2-68BF-4978-81C2-C2BFF6665C80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434160" y="648360"/>
            <a:ext cx="43923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venir Next LT Pro"/>
              </a:rPr>
              <a:t>Что такое SWOT-анализ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7"/>
          <p:cNvSpPr/>
          <p:nvPr/>
        </p:nvSpPr>
        <p:spPr>
          <a:xfrm>
            <a:off x="1099440" y="2224440"/>
            <a:ext cx="3056040" cy="1463040"/>
          </a:xfrm>
          <a:prstGeom prst="rect">
            <a:avLst/>
          </a:prstGeom>
          <a:noFill/>
          <a:ln w="2844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venir Next LT Pro"/>
              </a:rPr>
              <a:t>🛡️</a:t>
            </a:r>
            <a:r>
              <a:rPr b="1" lang="ru-RU" sz="1800" spc="-1" strike="noStrike">
                <a:solidFill>
                  <a:srgbClr val="00b050"/>
                </a:solidFill>
                <a:latin typeface="Avenir Next LT Pro"/>
              </a:rPr>
              <a:t>S – Strengths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800" spc="-1" strike="noStrike">
                <a:solidFill>
                  <a:srgbClr val="00b050"/>
                </a:solidFill>
                <a:latin typeface="Avenir Next LT Pro"/>
              </a:rPr>
              <a:t>Сильные</a:t>
            </a:r>
            <a:r>
              <a:rPr b="1" lang="ru-RU" sz="1800" spc="-1" strike="noStrike">
                <a:solidFill>
                  <a:srgbClr val="000000"/>
                </a:solidFill>
                <a:latin typeface="Avenir Next LT Pro"/>
              </a:rPr>
              <a:t> </a:t>
            </a:r>
            <a:r>
              <a:rPr b="1" lang="ru-RU" sz="1800" spc="-1" strike="noStrike">
                <a:solidFill>
                  <a:srgbClr val="00b050"/>
                </a:solidFill>
                <a:latin typeface="Avenir Next LT Pro"/>
              </a:rPr>
              <a:t>стороны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venir Next LT Pro"/>
              </a:rPr>
              <a:t>Внутренние уникальные преимущества и ресурсы.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8"/>
          <p:cNvSpPr/>
          <p:nvPr/>
        </p:nvSpPr>
        <p:spPr>
          <a:xfrm>
            <a:off x="1099440" y="4459680"/>
            <a:ext cx="3056040" cy="1199880"/>
          </a:xfrm>
          <a:prstGeom prst="rect">
            <a:avLst/>
          </a:prstGeom>
          <a:noFill/>
          <a:ln w="2844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b0f0"/>
                </a:solidFill>
                <a:latin typeface="Avenir Next LT Pro"/>
                <a:ea typeface="Avenir Next LT Pro"/>
              </a:rPr>
              <a:t>📈</a:t>
            </a:r>
            <a:r>
              <a:rPr b="1" lang="ru-RU" sz="1800" spc="-1" strike="noStrike">
                <a:solidFill>
                  <a:srgbClr val="00b0f0"/>
                </a:solidFill>
                <a:latin typeface="Avenir Next LT Pro"/>
                <a:ea typeface="Avenir Next LT Pro"/>
              </a:rPr>
              <a:t>O - Opportunities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800" spc="-1" strike="noStrike">
                <a:solidFill>
                  <a:srgbClr val="00b0f0"/>
                </a:solidFill>
                <a:latin typeface="Avenir Next LT Pro"/>
                <a:ea typeface="Avenir Next LT Pro"/>
              </a:rPr>
              <a:t>Возможности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Внешние рыночные тренды для роста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9"/>
          <p:cNvSpPr/>
          <p:nvPr/>
        </p:nvSpPr>
        <p:spPr>
          <a:xfrm>
            <a:off x="7135920" y="2224440"/>
            <a:ext cx="3056040" cy="1463040"/>
          </a:xfrm>
          <a:prstGeom prst="rect">
            <a:avLst/>
          </a:prstGeom>
          <a:noFill/>
          <a:ln w="2844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c00000"/>
                </a:solidFill>
                <a:latin typeface="Avenir Next LT Pro"/>
                <a:ea typeface="Avenir Next LT Pro"/>
              </a:rPr>
              <a:t>⚠</a:t>
            </a:r>
            <a:r>
              <a:rPr b="1" lang="ru-RU" sz="1800" spc="-1" strike="noStrike">
                <a:solidFill>
                  <a:srgbClr val="c00000"/>
                </a:solidFill>
                <a:latin typeface="Avenir Next LT Pro"/>
                <a:ea typeface="Avenir Next LT Pro"/>
              </a:rPr>
              <a:t>W – Weaknesses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800" spc="-1" strike="noStrike">
                <a:solidFill>
                  <a:srgbClr val="c00000"/>
                </a:solidFill>
                <a:latin typeface="Avenir Next LT Pro"/>
                <a:ea typeface="Avenir Next LT Pro"/>
              </a:rPr>
              <a:t>Слабые стороны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Внутренние ограничение и нехватка экспертизы.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0"/>
          <p:cNvSpPr/>
          <p:nvPr/>
        </p:nvSpPr>
        <p:spPr>
          <a:xfrm>
            <a:off x="7135920" y="4459680"/>
            <a:ext cx="3056040" cy="1199880"/>
          </a:xfrm>
          <a:prstGeom prst="rect">
            <a:avLst/>
          </a:prstGeom>
          <a:noFill/>
          <a:ln w="2844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ffc000"/>
                </a:solidFill>
                <a:latin typeface="Avenir Next LT Pro"/>
                <a:ea typeface="Avenir Next LT Pro"/>
              </a:rPr>
              <a:t>⚡</a:t>
            </a:r>
            <a:r>
              <a:rPr b="1" lang="ru-RU" sz="1800" spc="-1" strike="noStrike">
                <a:solidFill>
                  <a:srgbClr val="ffc000"/>
                </a:solidFill>
                <a:latin typeface="Avenir Next LT Pro"/>
                <a:ea typeface="Avenir Next LT Pro"/>
              </a:rPr>
              <a:t>T - Threats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800" spc="-1" strike="noStrike">
                <a:solidFill>
                  <a:srgbClr val="ffc000"/>
                </a:solidFill>
                <a:latin typeface="Avenir Next LT Pro"/>
                <a:ea typeface="Avenir Next LT Pro"/>
              </a:rPr>
              <a:t>Угрозы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Внешние риски и препятствия среды.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Левая круглая скобка 11"/>
          <p:cNvSpPr/>
          <p:nvPr/>
        </p:nvSpPr>
        <p:spPr>
          <a:xfrm>
            <a:off x="974520" y="2171520"/>
            <a:ext cx="134280" cy="1299600"/>
          </a:xfrm>
          <a:custGeom>
            <a:avLst/>
            <a:gdLst>
              <a:gd name="textAreaLeft" fmla="*/ 39240 w 134280"/>
              <a:gd name="textAreaRight" fmla="*/ 135000 w 134280"/>
              <a:gd name="textAreaTop" fmla="*/ 3240 h 1299600"/>
              <a:gd name="textAreaBottom" fmla="*/ 1296720 h 1299600"/>
            </a:gdLst>
            <a:ahLst/>
            <a:rect l="textAreaLeft" t="textAreaTop" r="textAreaRight" b="textAreaBottom"/>
            <a:pathLst>
              <a:path stroke="0" w="21600" h="208051">
                <a:moveTo>
                  <a:pt x="21600" y="208051"/>
                </a:moveTo>
                <a:lnTo>
                  <a:pt x="21600" y="208051"/>
                </a:lnTo>
                <a:arcTo wR="0" hR="0" stAng="0" swAng="0"/>
                <a:lnTo>
                  <a:pt x="21600" y="208051"/>
                </a:lnTo>
                <a:arcTo wR="21600" hR="1800" stAng="5400000" swAng="5400000"/>
                <a:lnTo>
                  <a:pt x="0" y="1800"/>
                </a:lnTo>
                <a:lnTo>
                  <a:pt x="0" y="1800"/>
                </a:lnTo>
                <a:arcTo wR="0" hR="0" stAng="0" swAng="0"/>
                <a:lnTo>
                  <a:pt x="0" y="1800"/>
                </a:lnTo>
                <a:arcTo wR="21600" hR="1800" stAng="-10800000" swAng="5400000"/>
                <a:close/>
              </a:path>
              <a:path fill="none" w="21600" h="208051">
                <a:moveTo>
                  <a:pt x="21600" y="208051"/>
                </a:moveTo>
                <a:lnTo>
                  <a:pt x="21600" y="208051"/>
                </a:lnTo>
                <a:arcTo wR="0" hR="0" stAng="0" swAng="0"/>
                <a:lnTo>
                  <a:pt x="21600" y="208051"/>
                </a:lnTo>
                <a:arcTo wR="21600" hR="1800" stAng="5400000" swAng="5400000"/>
                <a:lnTo>
                  <a:pt x="0" y="1800"/>
                </a:lnTo>
                <a:lnTo>
                  <a:pt x="0" y="1800"/>
                </a:lnTo>
                <a:arcTo wR="0" hR="0" stAng="0" swAng="0"/>
                <a:lnTo>
                  <a:pt x="0" y="1800"/>
                </a:lnTo>
                <a:arcTo wR="21600" hR="1800" stAng="-10800000" swAng="5400000"/>
              </a:path>
            </a:pathLst>
          </a:custGeom>
          <a:noFill/>
          <a:ln w="6480">
            <a:solidFill>
              <a:srgbClr val="fe854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2" name="Левая круглая скобка 12"/>
          <p:cNvSpPr/>
          <p:nvPr/>
        </p:nvSpPr>
        <p:spPr>
          <a:xfrm>
            <a:off x="974520" y="4414320"/>
            <a:ext cx="134280" cy="1299600"/>
          </a:xfrm>
          <a:custGeom>
            <a:avLst/>
            <a:gdLst>
              <a:gd name="textAreaLeft" fmla="*/ 39240 w 134280"/>
              <a:gd name="textAreaRight" fmla="*/ 135000 w 134280"/>
              <a:gd name="textAreaTop" fmla="*/ 3240 h 1299600"/>
              <a:gd name="textAreaBottom" fmla="*/ 1296720 h 1299600"/>
            </a:gdLst>
            <a:ahLst/>
            <a:rect l="textAreaLeft" t="textAreaTop" r="textAreaRight" b="textAreaBottom"/>
            <a:pathLst>
              <a:path stroke="0" w="21600" h="208051">
                <a:moveTo>
                  <a:pt x="21600" y="208051"/>
                </a:moveTo>
                <a:lnTo>
                  <a:pt x="21600" y="208051"/>
                </a:lnTo>
                <a:arcTo wR="0" hR="0" stAng="0" swAng="0"/>
                <a:lnTo>
                  <a:pt x="21600" y="208051"/>
                </a:lnTo>
                <a:arcTo wR="21600" hR="1800" stAng="5400000" swAng="5400000"/>
                <a:lnTo>
                  <a:pt x="0" y="1800"/>
                </a:lnTo>
                <a:lnTo>
                  <a:pt x="0" y="1800"/>
                </a:lnTo>
                <a:arcTo wR="0" hR="0" stAng="0" swAng="0"/>
                <a:lnTo>
                  <a:pt x="0" y="1800"/>
                </a:lnTo>
                <a:arcTo wR="21600" hR="1800" stAng="-10800000" swAng="5400000"/>
                <a:close/>
              </a:path>
              <a:path fill="none" w="21600" h="208051">
                <a:moveTo>
                  <a:pt x="21600" y="208051"/>
                </a:moveTo>
                <a:lnTo>
                  <a:pt x="21600" y="208051"/>
                </a:lnTo>
                <a:arcTo wR="0" hR="0" stAng="0" swAng="0"/>
                <a:lnTo>
                  <a:pt x="21600" y="208051"/>
                </a:lnTo>
                <a:arcTo wR="21600" hR="1800" stAng="5400000" swAng="5400000"/>
                <a:lnTo>
                  <a:pt x="0" y="1800"/>
                </a:lnTo>
                <a:lnTo>
                  <a:pt x="0" y="1800"/>
                </a:lnTo>
                <a:arcTo wR="0" hR="0" stAng="0" swAng="0"/>
                <a:lnTo>
                  <a:pt x="0" y="1800"/>
                </a:lnTo>
                <a:arcTo wR="21600" hR="1800" stAng="-10800000" swAng="5400000"/>
              </a:path>
            </a:pathLst>
          </a:custGeom>
          <a:noFill/>
          <a:ln w="6480">
            <a:solidFill>
              <a:srgbClr val="00b0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3" name="Левая круглая скобка 13"/>
          <p:cNvSpPr/>
          <p:nvPr/>
        </p:nvSpPr>
        <p:spPr>
          <a:xfrm>
            <a:off x="7070400" y="2171520"/>
            <a:ext cx="134280" cy="1299600"/>
          </a:xfrm>
          <a:custGeom>
            <a:avLst/>
            <a:gdLst>
              <a:gd name="textAreaLeft" fmla="*/ 39240 w 134280"/>
              <a:gd name="textAreaRight" fmla="*/ 135000 w 134280"/>
              <a:gd name="textAreaTop" fmla="*/ 3240 h 1299600"/>
              <a:gd name="textAreaBottom" fmla="*/ 1296720 h 1299600"/>
            </a:gdLst>
            <a:ahLst/>
            <a:rect l="textAreaLeft" t="textAreaTop" r="textAreaRight" b="textAreaBottom"/>
            <a:pathLst>
              <a:path stroke="0" w="21600" h="208051">
                <a:moveTo>
                  <a:pt x="21600" y="208051"/>
                </a:moveTo>
                <a:lnTo>
                  <a:pt x="21600" y="208051"/>
                </a:lnTo>
                <a:arcTo wR="0" hR="0" stAng="0" swAng="0"/>
                <a:lnTo>
                  <a:pt x="21600" y="208051"/>
                </a:lnTo>
                <a:arcTo wR="21600" hR="1800" stAng="5400000" swAng="5400000"/>
                <a:lnTo>
                  <a:pt x="0" y="1800"/>
                </a:lnTo>
                <a:lnTo>
                  <a:pt x="0" y="1800"/>
                </a:lnTo>
                <a:arcTo wR="0" hR="0" stAng="0" swAng="0"/>
                <a:lnTo>
                  <a:pt x="0" y="1800"/>
                </a:lnTo>
                <a:arcTo wR="21600" hR="1800" stAng="-10800000" swAng="5400000"/>
                <a:close/>
              </a:path>
              <a:path fill="none" w="21600" h="208051">
                <a:moveTo>
                  <a:pt x="21600" y="208051"/>
                </a:moveTo>
                <a:lnTo>
                  <a:pt x="21600" y="208051"/>
                </a:lnTo>
                <a:arcTo wR="0" hR="0" stAng="0" swAng="0"/>
                <a:lnTo>
                  <a:pt x="21600" y="208051"/>
                </a:lnTo>
                <a:arcTo wR="21600" hR="1800" stAng="5400000" swAng="5400000"/>
                <a:lnTo>
                  <a:pt x="0" y="1800"/>
                </a:lnTo>
                <a:lnTo>
                  <a:pt x="0" y="1800"/>
                </a:lnTo>
                <a:arcTo wR="0" hR="0" stAng="0" swAng="0"/>
                <a:lnTo>
                  <a:pt x="0" y="1800"/>
                </a:lnTo>
                <a:arcTo wR="21600" hR="1800" stAng="-10800000" swAng="5400000"/>
              </a:path>
            </a:pathLst>
          </a:custGeom>
          <a:noFill/>
          <a:ln w="64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4" name="Левая круглая скобка 14"/>
          <p:cNvSpPr/>
          <p:nvPr/>
        </p:nvSpPr>
        <p:spPr>
          <a:xfrm>
            <a:off x="7070400" y="4414320"/>
            <a:ext cx="134280" cy="1299600"/>
          </a:xfrm>
          <a:custGeom>
            <a:avLst/>
            <a:gdLst>
              <a:gd name="textAreaLeft" fmla="*/ 39240 w 134280"/>
              <a:gd name="textAreaRight" fmla="*/ 135000 w 134280"/>
              <a:gd name="textAreaTop" fmla="*/ 3240 h 1299600"/>
              <a:gd name="textAreaBottom" fmla="*/ 1296720 h 1299600"/>
            </a:gdLst>
            <a:ahLst/>
            <a:rect l="textAreaLeft" t="textAreaTop" r="textAreaRight" b="textAreaBottom"/>
            <a:pathLst>
              <a:path stroke="0" w="21600" h="208051">
                <a:moveTo>
                  <a:pt x="21600" y="208051"/>
                </a:moveTo>
                <a:lnTo>
                  <a:pt x="21600" y="208051"/>
                </a:lnTo>
                <a:arcTo wR="0" hR="0" stAng="0" swAng="0"/>
                <a:lnTo>
                  <a:pt x="21600" y="208051"/>
                </a:lnTo>
                <a:arcTo wR="21600" hR="1800" stAng="5400000" swAng="5400000"/>
                <a:lnTo>
                  <a:pt x="0" y="1800"/>
                </a:lnTo>
                <a:lnTo>
                  <a:pt x="0" y="1800"/>
                </a:lnTo>
                <a:arcTo wR="0" hR="0" stAng="0" swAng="0"/>
                <a:lnTo>
                  <a:pt x="0" y="1800"/>
                </a:lnTo>
                <a:arcTo wR="21600" hR="1800" stAng="-10800000" swAng="5400000"/>
                <a:close/>
              </a:path>
              <a:path fill="none" w="21600" h="208051">
                <a:moveTo>
                  <a:pt x="21600" y="208051"/>
                </a:moveTo>
                <a:lnTo>
                  <a:pt x="21600" y="208051"/>
                </a:lnTo>
                <a:arcTo wR="0" hR="0" stAng="0" swAng="0"/>
                <a:lnTo>
                  <a:pt x="21600" y="208051"/>
                </a:lnTo>
                <a:arcTo wR="21600" hR="1800" stAng="5400000" swAng="5400000"/>
                <a:lnTo>
                  <a:pt x="0" y="1800"/>
                </a:lnTo>
                <a:lnTo>
                  <a:pt x="0" y="1800"/>
                </a:lnTo>
                <a:arcTo wR="0" hR="0" stAng="0" swAng="0"/>
                <a:lnTo>
                  <a:pt x="0" y="1800"/>
                </a:lnTo>
                <a:arcTo wR="21600" hR="1800" stAng="-10800000" swAng="5400000"/>
              </a:path>
            </a:pathLst>
          </a:custGeom>
          <a:noFill/>
          <a:ln w="6480">
            <a:solidFill>
              <a:srgbClr val="ff9d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5" name=""/>
          <p:cNvSpPr/>
          <p:nvPr/>
        </p:nvSpPr>
        <p:spPr>
          <a:xfrm>
            <a:off x="3600000" y="4140000"/>
            <a:ext cx="1799640" cy="1799640"/>
          </a:xfrm>
          <a:prstGeom prst="ellipse">
            <a:avLst/>
          </a:prstGeom>
          <a:blipFill rotWithShape="0">
            <a:blip r:embed="rId4">
              <a:alphaModFix amt="50000"/>
            </a:blip>
            <a:srcRect/>
            <a:tile tx="0" ty="0" sx="38015" sy="57426" algn="ctr"/>
          </a:blipFill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>
            <a:off x="-360000" y="1980000"/>
            <a:ext cx="13139640" cy="4679640"/>
          </a:xfrm>
          <a:prstGeom prst="rect">
            <a:avLst/>
          </a:prstGeom>
          <a:blipFill rotWithShape="0">
            <a:blip r:embed="rId1">
              <a:alphaModFix amt="58000"/>
            </a:blip>
            <a:srcRect/>
            <a:tile tx="0" ty="0" sx="153204" sy="153204" algn="ctr"/>
          </a:blip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360000" y="-8852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ru-RU" sz="1400" spc="695" strike="noStrike" cap="all">
                <a:solidFill>
                  <a:srgbClr val="00b0f0"/>
                </a:solidFill>
                <a:latin typeface="Avenir Next LT Pro Light"/>
              </a:rPr>
              <a:t>Ценность инструмента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49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             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dt" idx="50"/>
          </p:nvPr>
        </p:nvSpPr>
        <p:spPr>
          <a:xfrm>
            <a:off x="9217440" y="214920"/>
            <a:ext cx="1485720" cy="338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B9A6B4A-E321-475F-B26C-9FD554AF0910}" type="datetime">
              <a:rPr b="0" lang="ru-RU" sz="1000" spc="94" strike="noStrike">
                <a:solidFill>
                  <a:srgbClr val="000000"/>
                </a:solidFill>
                <a:latin typeface="Avenir Next LT Pro"/>
              </a:rPr>
              <a:t>23.9.26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sldNum" idx="51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F7BF1D-1F29-4A14-A578-0026D58F6280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434160" y="648360"/>
            <a:ext cx="5628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venir Next LT Pro"/>
              </a:rPr>
              <a:t>Зачем применять SWOT-анализ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7"/>
          <p:cNvSpPr/>
          <p:nvPr/>
        </p:nvSpPr>
        <p:spPr>
          <a:xfrm>
            <a:off x="1124640" y="2410920"/>
            <a:ext cx="3056040" cy="2031120"/>
          </a:xfrm>
          <a:prstGeom prst="rect">
            <a:avLst/>
          </a:prstGeom>
          <a:solidFill>
            <a:srgbClr val="ffffff"/>
          </a:solidFill>
          <a:ln w="28440">
            <a:solidFill>
              <a:srgbClr val="000000"/>
            </a:solidFill>
            <a:miter/>
          </a:ln>
          <a:effectLst>
            <a:outerShdw blurRad="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🧿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ru-RU" sz="18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Системная картина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Связывает внутренние факты с внешними реалиями рынка.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4536720" y="2410920"/>
            <a:ext cx="3056040" cy="2286000"/>
          </a:xfrm>
          <a:prstGeom prst="rect">
            <a:avLst/>
          </a:prstGeom>
          <a:solidFill>
            <a:srgbClr val="ffffff"/>
          </a:solidFill>
          <a:ln w="28440">
            <a:solidFill>
              <a:srgbClr val="000000"/>
            </a:solidFill>
            <a:miter/>
          </a:ln>
          <a:effectLst>
            <a:outerShdw blurRad="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☠️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ru-RU" sz="18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Предотвращение рисков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Процесс выявляет уязвимости до распределения бюджета.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11"/>
          <p:cNvSpPr/>
          <p:nvPr/>
        </p:nvSpPr>
        <p:spPr>
          <a:xfrm>
            <a:off x="7906320" y="2410920"/>
            <a:ext cx="3056040" cy="2286000"/>
          </a:xfrm>
          <a:prstGeom prst="rect">
            <a:avLst/>
          </a:prstGeom>
          <a:solidFill>
            <a:srgbClr val="ffffff"/>
          </a:solidFill>
          <a:ln w="28440">
            <a:solidFill>
              <a:srgbClr val="000000"/>
            </a:solidFill>
            <a:miter/>
          </a:ln>
          <a:effectLst>
            <a:outerShdw blurRad="0" dir="5400000" dist="19080" rotWithShape="0">
              <a:srgbClr val="000000">
                <a:alpha val="6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♟️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ru-RU" sz="18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Стратегический фокус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Помогает сформулировать точный вектор развития.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10620000" y="3060000"/>
            <a:ext cx="3591720" cy="2699640"/>
          </a:xfrm>
          <a:prstGeom prst="rect">
            <a:avLst/>
          </a:prstGeom>
          <a:ln w="0">
            <a:noFill/>
          </a:ln>
        </p:spPr>
      </p:pic>
      <p:pic>
        <p:nvPicPr>
          <p:cNvPr id="186" name="" descr=""/>
          <p:cNvPicPr/>
          <p:nvPr/>
        </p:nvPicPr>
        <p:blipFill>
          <a:blip r:embed="rId2"/>
          <a:stretch/>
        </p:blipFill>
        <p:spPr>
          <a:xfrm>
            <a:off x="6915600" y="3768120"/>
            <a:ext cx="1904040" cy="2866680"/>
          </a:xfrm>
          <a:prstGeom prst="rect">
            <a:avLst/>
          </a:prstGeom>
          <a:ln w="0">
            <a:noFill/>
          </a:ln>
        </p:spPr>
      </p:pic>
      <p:pic>
        <p:nvPicPr>
          <p:cNvPr id="187" name="" descr=""/>
          <p:cNvPicPr/>
          <p:nvPr/>
        </p:nvPicPr>
        <p:blipFill>
          <a:blip r:embed="rId3"/>
          <a:stretch/>
        </p:blipFill>
        <p:spPr>
          <a:xfrm>
            <a:off x="4680000" y="4676400"/>
            <a:ext cx="2159640" cy="1623240"/>
          </a:xfrm>
          <a:prstGeom prst="rect">
            <a:avLst/>
          </a:prstGeom>
          <a:ln w="0">
            <a:noFill/>
          </a:ln>
        </p:spPr>
      </p:pic>
      <p:pic>
        <p:nvPicPr>
          <p:cNvPr id="188" name="" descr=""/>
          <p:cNvPicPr/>
          <p:nvPr/>
        </p:nvPicPr>
        <p:blipFill>
          <a:blip r:embed="rId4"/>
          <a:stretch/>
        </p:blipFill>
        <p:spPr>
          <a:xfrm>
            <a:off x="2855160" y="4475160"/>
            <a:ext cx="1824480" cy="1824480"/>
          </a:xfrm>
          <a:prstGeom prst="rect">
            <a:avLst/>
          </a:prstGeom>
          <a:ln w="0">
            <a:noFill/>
          </a:ln>
        </p:spPr>
      </p:pic>
      <p:pic>
        <p:nvPicPr>
          <p:cNvPr id="189" name="" descr=""/>
          <p:cNvPicPr/>
          <p:nvPr/>
        </p:nvPicPr>
        <p:blipFill>
          <a:blip r:embed="rId5"/>
          <a:stretch/>
        </p:blipFill>
        <p:spPr>
          <a:xfrm>
            <a:off x="510480" y="4110480"/>
            <a:ext cx="1829160" cy="1829160"/>
          </a:xfrm>
          <a:prstGeom prst="rect">
            <a:avLst/>
          </a:prstGeom>
          <a:ln w="0">
            <a:noFill/>
          </a:ln>
        </p:spPr>
      </p:pic>
      <p:pic>
        <p:nvPicPr>
          <p:cNvPr id="190" name="Рукописный ввод 27" descr=""/>
          <p:cNvPicPr/>
          <p:nvPr/>
        </p:nvPicPr>
        <p:blipFill>
          <a:blip r:embed="rId6"/>
          <a:stretch/>
        </p:blipFill>
        <p:spPr>
          <a:xfrm>
            <a:off x="-2287440" y="-2317680"/>
            <a:ext cx="14331600" cy="6128640"/>
          </a:xfrm>
          <a:prstGeom prst="rect">
            <a:avLst/>
          </a:prstGeom>
          <a:ln w="12600">
            <a:noFill/>
          </a:ln>
        </p:spPr>
      </p:pic>
      <p:sp>
        <p:nvSpPr>
          <p:cNvPr id="191" name="Стрелка: пятиугольник 8"/>
          <p:cNvSpPr/>
          <p:nvPr/>
        </p:nvSpPr>
        <p:spPr>
          <a:xfrm>
            <a:off x="8731080" y="2848320"/>
            <a:ext cx="1686600" cy="1388520"/>
          </a:xfrm>
          <a:custGeom>
            <a:avLst/>
            <a:gdLst>
              <a:gd name="textAreaLeft" fmla="*/ 246960 w 1686600"/>
              <a:gd name="textAreaRight" fmla="*/ 1440000 w 1686600"/>
              <a:gd name="textAreaTop" fmla="*/ 203400 h 1388520"/>
              <a:gd name="textAreaBottom" fmla="*/ 1185480 h 1388520"/>
            </a:gdLst>
            <a:ahLst/>
            <a:rect l="textAreaLeft" t="textAreaTop" r="textAreaRight" b="textAreaBottom"/>
            <a:pathLst>
              <a:path w="26235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3117" hR="10800" stAng="-10800000" swAng="21550000"/>
                <a:close/>
              </a:path>
            </a:pathLst>
          </a:custGeom>
          <a:solidFill>
            <a:srgbClr val="fcd7bc"/>
          </a:solidFill>
          <a:ln w="12600">
            <a:solidFill>
              <a:srgbClr val="6c351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2" name="Стрелка: пятиугольник 8"/>
          <p:cNvSpPr/>
          <p:nvPr/>
        </p:nvSpPr>
        <p:spPr>
          <a:xfrm>
            <a:off x="6936120" y="2856600"/>
            <a:ext cx="1686600" cy="1388520"/>
          </a:xfrm>
          <a:custGeom>
            <a:avLst/>
            <a:gdLst>
              <a:gd name="textAreaLeft" fmla="*/ 246960 w 1686600"/>
              <a:gd name="textAreaRight" fmla="*/ 1440000 w 1686600"/>
              <a:gd name="textAreaTop" fmla="*/ 203400 h 1388520"/>
              <a:gd name="textAreaBottom" fmla="*/ 1185480 h 1388520"/>
            </a:gdLst>
            <a:ahLst/>
            <a:rect l="textAreaLeft" t="textAreaTop" r="textAreaRight" b="textAreaBottom"/>
            <a:pathLst>
              <a:path w="26235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3117" hR="10800" stAng="-10800000" swAng="21550000"/>
                <a:close/>
              </a:path>
            </a:pathLst>
          </a:custGeom>
          <a:solidFill>
            <a:srgbClr val="fcd7bc"/>
          </a:solidFill>
          <a:ln w="12600">
            <a:solidFill>
              <a:srgbClr val="6c351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3" name="Стрелка: пятиугольник 8"/>
          <p:cNvSpPr/>
          <p:nvPr/>
        </p:nvSpPr>
        <p:spPr>
          <a:xfrm>
            <a:off x="5005800" y="2848320"/>
            <a:ext cx="1686600" cy="1388520"/>
          </a:xfrm>
          <a:custGeom>
            <a:avLst/>
            <a:gdLst>
              <a:gd name="textAreaLeft" fmla="*/ 246960 w 1686600"/>
              <a:gd name="textAreaRight" fmla="*/ 1440000 w 1686600"/>
              <a:gd name="textAreaTop" fmla="*/ 203400 h 1388520"/>
              <a:gd name="textAreaBottom" fmla="*/ 1185480 h 1388520"/>
            </a:gdLst>
            <a:ahLst/>
            <a:rect l="textAreaLeft" t="textAreaTop" r="textAreaRight" b="textAreaBottom"/>
            <a:pathLst>
              <a:path w="26235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3117" hR="10800" stAng="-10800000" swAng="21550000"/>
                <a:close/>
              </a:path>
            </a:pathLst>
          </a:custGeom>
          <a:solidFill>
            <a:srgbClr val="fcd7bc"/>
          </a:solidFill>
          <a:ln w="12600">
            <a:solidFill>
              <a:srgbClr val="6c351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4" name="Стрелка: пятиугольник 8"/>
          <p:cNvSpPr/>
          <p:nvPr/>
        </p:nvSpPr>
        <p:spPr>
          <a:xfrm>
            <a:off x="3117600" y="2848320"/>
            <a:ext cx="1686600" cy="1388520"/>
          </a:xfrm>
          <a:custGeom>
            <a:avLst/>
            <a:gdLst>
              <a:gd name="textAreaLeft" fmla="*/ 246960 w 1686600"/>
              <a:gd name="textAreaRight" fmla="*/ 1440000 w 1686600"/>
              <a:gd name="textAreaTop" fmla="*/ 203400 h 1388520"/>
              <a:gd name="textAreaBottom" fmla="*/ 1185480 h 1388520"/>
            </a:gdLst>
            <a:ahLst/>
            <a:rect l="textAreaLeft" t="textAreaTop" r="textAreaRight" b="textAreaBottom"/>
            <a:pathLst>
              <a:path w="26235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3117" hR="10800" stAng="-10800000" swAng="21550000"/>
                <a:close/>
              </a:path>
            </a:pathLst>
          </a:custGeom>
          <a:solidFill>
            <a:srgbClr val="fcd7bc"/>
          </a:solidFill>
          <a:ln w="12600">
            <a:solidFill>
              <a:srgbClr val="6c351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42440" y="-88524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ru-RU" sz="1400" spc="695" strike="noStrike" cap="all">
                <a:solidFill>
                  <a:srgbClr val="00b0f0"/>
                </a:solidFill>
                <a:latin typeface="Avenir Next LT Pro Light"/>
              </a:rPr>
              <a:t>Создание SWOT-анализа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ftr" idx="52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             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dt" idx="53"/>
          </p:nvPr>
        </p:nvSpPr>
        <p:spPr>
          <a:xfrm>
            <a:off x="9217440" y="214920"/>
            <a:ext cx="1485720" cy="338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8283546-1093-4A89-B35D-E253FA996290}" type="datetime">
              <a:rPr b="0" lang="ru-RU" sz="1000" spc="94" strike="noStrike">
                <a:solidFill>
                  <a:srgbClr val="000000"/>
                </a:solidFill>
                <a:latin typeface="Avenir Next LT Pro"/>
              </a:rPr>
              <a:t>23.9.26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54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5BAE2F-58CE-4E0D-9E63-83C392AE5D20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TextBox 6"/>
          <p:cNvSpPr/>
          <p:nvPr/>
        </p:nvSpPr>
        <p:spPr>
          <a:xfrm>
            <a:off x="434160" y="653400"/>
            <a:ext cx="639036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venir Next LT Pro"/>
              </a:rPr>
              <a:t>На какие вопросы может отвечать SWOT-матрица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Стрелка: пятиугольник 8"/>
          <p:cNvSpPr/>
          <p:nvPr/>
        </p:nvSpPr>
        <p:spPr>
          <a:xfrm>
            <a:off x="1238040" y="2856600"/>
            <a:ext cx="1686600" cy="1388520"/>
          </a:xfrm>
          <a:custGeom>
            <a:avLst/>
            <a:gdLst>
              <a:gd name="textAreaLeft" fmla="*/ 246960 w 1686600"/>
              <a:gd name="textAreaRight" fmla="*/ 1440000 w 1686600"/>
              <a:gd name="textAreaTop" fmla="*/ 203400 h 1388520"/>
              <a:gd name="textAreaBottom" fmla="*/ 1185480 h 1388520"/>
            </a:gdLst>
            <a:ahLst/>
            <a:rect l="textAreaLeft" t="textAreaTop" r="textAreaRight" b="textAreaBottom"/>
            <a:pathLst>
              <a:path w="26235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3117" hR="10800" stAng="-10800000" swAng="21550000"/>
                <a:close/>
              </a:path>
            </a:pathLst>
          </a:custGeom>
          <a:solidFill>
            <a:srgbClr val="fcd7bc"/>
          </a:solidFill>
          <a:ln w="12600">
            <a:solidFill>
              <a:srgbClr val="6c351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1" name="TextBox 9"/>
          <p:cNvSpPr/>
          <p:nvPr/>
        </p:nvSpPr>
        <p:spPr>
          <a:xfrm>
            <a:off x="1563840" y="3317400"/>
            <a:ext cx="1135800" cy="64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определить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участников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14"/>
          <p:cNvSpPr/>
          <p:nvPr/>
        </p:nvSpPr>
        <p:spPr>
          <a:xfrm>
            <a:off x="3349440" y="3319920"/>
            <a:ext cx="12189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собрать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информацию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15"/>
          <p:cNvSpPr/>
          <p:nvPr/>
        </p:nvSpPr>
        <p:spPr>
          <a:xfrm>
            <a:off x="5407200" y="3321360"/>
            <a:ext cx="17859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заполнить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SWOT-матрицу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16"/>
          <p:cNvSpPr/>
          <p:nvPr/>
        </p:nvSpPr>
        <p:spPr>
          <a:xfrm>
            <a:off x="7355880" y="3318480"/>
            <a:ext cx="1371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оценить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результат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17"/>
          <p:cNvSpPr/>
          <p:nvPr/>
        </p:nvSpPr>
        <p:spPr>
          <a:xfrm>
            <a:off x="8869680" y="3306600"/>
            <a:ext cx="27428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составить план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по итогам встречи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 flipH="1" flipV="1">
            <a:off x="7019280" y="4139280"/>
            <a:ext cx="2339640" cy="2339640"/>
          </a:xfrm>
          <a:prstGeom prst="ellipse">
            <a:avLst/>
          </a:prstGeom>
          <a:blipFill rotWithShape="0">
            <a:blip r:embed="rId1"/>
            <a:srcRect/>
            <a:tile tx="0" ty="0" sx="43784" sy="45069" algn="ctr"/>
          </a:blipFill>
          <a:ln w="0">
            <a:solidFill>
              <a:srgbClr val="3465a4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7" name=""/>
          <p:cNvSpPr/>
          <p:nvPr/>
        </p:nvSpPr>
        <p:spPr>
          <a:xfrm flipH="1" flipV="1">
            <a:off x="3059280" y="4499280"/>
            <a:ext cx="2339640" cy="2339640"/>
          </a:xfrm>
          <a:prstGeom prst="ellipse">
            <a:avLst/>
          </a:prstGeom>
          <a:blipFill rotWithShape="0">
            <a:blip r:embed="rId2"/>
            <a:srcRect/>
            <a:tile tx="0" ty="0" sx="43784" sy="45069" algn="ctr"/>
          </a:blipFill>
          <a:ln w="0">
            <a:solidFill>
              <a:srgbClr val="3465a4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8" name=""/>
          <p:cNvSpPr/>
          <p:nvPr/>
        </p:nvSpPr>
        <p:spPr>
          <a:xfrm>
            <a:off x="9352800" y="4140000"/>
            <a:ext cx="2339640" cy="2339640"/>
          </a:xfrm>
          <a:prstGeom prst="ellipse">
            <a:avLst/>
          </a:prstGeom>
          <a:blipFill rotWithShape="0">
            <a:blip r:embed="rId3"/>
            <a:srcRect/>
            <a:tile tx="0" ty="0" sx="43784" sy="45069" algn="ctr"/>
          </a:blipFill>
          <a:ln w="0">
            <a:solidFill>
              <a:srgbClr val="3465a4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9" name=""/>
          <p:cNvSpPr/>
          <p:nvPr/>
        </p:nvSpPr>
        <p:spPr>
          <a:xfrm flipH="1" flipV="1">
            <a:off x="4859280" y="4319280"/>
            <a:ext cx="2339640" cy="2339640"/>
          </a:xfrm>
          <a:prstGeom prst="ellipse">
            <a:avLst/>
          </a:prstGeom>
          <a:blipFill rotWithShape="0">
            <a:blip r:embed="rId4"/>
            <a:srcRect/>
            <a:tile tx="0" ty="0" sx="43784" sy="45069" algn="ctr"/>
          </a:blipFill>
          <a:ln w="0">
            <a:solidFill>
              <a:srgbClr val="3465a4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10" name="Рукописный ввод 20" descr=""/>
          <p:cNvPicPr/>
          <p:nvPr/>
        </p:nvPicPr>
        <p:blipFill>
          <a:blip r:embed="rId5"/>
          <a:stretch/>
        </p:blipFill>
        <p:spPr>
          <a:xfrm>
            <a:off x="-885600" y="-2871360"/>
            <a:ext cx="17209080" cy="10852560"/>
          </a:xfrm>
          <a:prstGeom prst="rect">
            <a:avLst/>
          </a:prstGeom>
          <a:ln w="12600">
            <a:noFill/>
          </a:ln>
        </p:spPr>
      </p:pic>
      <p:sp>
        <p:nvSpPr>
          <p:cNvPr id="211" name="PlaceHolder 1"/>
          <p:cNvSpPr>
            <a:spLocks noGrp="1"/>
          </p:cNvSpPr>
          <p:nvPr>
            <p:ph type="dt" idx="55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541B12-8A90-48A1-B502-3D2FEB7AC277}" type="datetime">
              <a:rPr b="0" lang="ru-RU" sz="1000" spc="94" strike="noStrike">
                <a:solidFill>
                  <a:srgbClr val="000000"/>
                </a:solidFill>
                <a:latin typeface="Avenir Next LT Pro"/>
              </a:rPr>
              <a:t>23.9.26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ftr" idx="56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             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57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19B5F1-009D-4D5B-9D93-F1DF247E1C61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Заголовок 1"/>
          <p:cNvSpPr/>
          <p:nvPr/>
        </p:nvSpPr>
        <p:spPr>
          <a:xfrm>
            <a:off x="430560" y="216360"/>
            <a:ext cx="497448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20000"/>
              </a:lnSpc>
            </a:pPr>
            <a:r>
              <a:rPr b="0" lang="ru-RU" sz="1400" spc="695" strike="noStrike" cap="all">
                <a:solidFill>
                  <a:srgbClr val="00b0f0"/>
                </a:solidFill>
                <a:latin typeface="Avenir Next LT Pro Light"/>
              </a:rPr>
              <a:t>Создание SWOT-анализа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4"/>
          <p:cNvSpPr/>
          <p:nvPr/>
        </p:nvSpPr>
        <p:spPr>
          <a:xfrm>
            <a:off x="434160" y="653400"/>
            <a:ext cx="63903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venir Next LT Pro"/>
              </a:rPr>
              <a:t>Определение участников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15"/>
          <p:cNvSpPr/>
          <p:nvPr/>
        </p:nvSpPr>
        <p:spPr>
          <a:xfrm>
            <a:off x="433440" y="2579040"/>
            <a:ext cx="2742840" cy="1762200"/>
          </a:xfrm>
          <a:prstGeom prst="rect">
            <a:avLst/>
          </a:prstGeom>
          <a:noFill/>
          <a:ln w="6480">
            <a:solidFill>
              <a:srgbClr val="000000"/>
            </a:solidFill>
            <a:custDash>
              <a:ds d="294000" sp="294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Профессиональная компетентность (Hard Skills)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Глубокое понимание своей функции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Доступ к актуальным данным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16"/>
          <p:cNvSpPr/>
          <p:nvPr/>
        </p:nvSpPr>
        <p:spPr>
          <a:xfrm>
            <a:off x="6314400" y="2848320"/>
            <a:ext cx="2768400" cy="1664640"/>
          </a:xfrm>
          <a:prstGeom prst="rect">
            <a:avLst/>
          </a:prstGeom>
          <a:noFill/>
          <a:ln w="6480">
            <a:solidFill>
              <a:srgbClr val="000000"/>
            </a:solidFill>
            <a:custDash>
              <a:ds d="294000" sp="294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Кросс-функциональность (Разнообразие взглядов)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Представительство разных уровней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Полярность опыта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17"/>
          <p:cNvSpPr/>
          <p:nvPr/>
        </p:nvSpPr>
        <p:spPr>
          <a:xfrm>
            <a:off x="9261000" y="2201400"/>
            <a:ext cx="2742840" cy="1341360"/>
          </a:xfrm>
          <a:prstGeom prst="rect">
            <a:avLst/>
          </a:prstGeom>
          <a:noFill/>
          <a:ln w="6480">
            <a:solidFill>
              <a:srgbClr val="000000"/>
            </a:solidFill>
            <a:custDash>
              <a:ds d="294000" sp="294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Организационные ограничения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От 3-8 персон, где каждый мотивирован разработкой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18"/>
          <p:cNvSpPr/>
          <p:nvPr/>
        </p:nvSpPr>
        <p:spPr>
          <a:xfrm>
            <a:off x="3351240" y="1827000"/>
            <a:ext cx="2742840" cy="2030400"/>
          </a:xfrm>
          <a:prstGeom prst="rect">
            <a:avLst/>
          </a:prstGeom>
          <a:noFill/>
          <a:ln w="6480">
            <a:solidFill>
              <a:srgbClr val="000000"/>
            </a:solidFill>
            <a:custDash>
              <a:ds d="294000" sp="294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Личные и soft-skills качества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Конструктивный критицизм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Широта мышления (вертолетный взгляд)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"/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Готовность к открытому диалогу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mph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25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25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3" dur="25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25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25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9" dur="25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25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25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5" dur="25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25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25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" dur="25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Рукописный ввод 1" descr=""/>
          <p:cNvPicPr/>
          <p:nvPr/>
        </p:nvPicPr>
        <p:blipFill>
          <a:blip r:embed="rId1"/>
          <a:stretch/>
        </p:blipFill>
        <p:spPr>
          <a:xfrm>
            <a:off x="-1099080" y="-2194560"/>
            <a:ext cx="16990200" cy="11689920"/>
          </a:xfrm>
          <a:prstGeom prst="rect">
            <a:avLst/>
          </a:prstGeom>
          <a:ln w="12600">
            <a:noFill/>
          </a:ln>
        </p:spPr>
      </p:pic>
      <p:sp>
        <p:nvSpPr>
          <p:cNvPr id="221" name="PlaceHolder 1"/>
          <p:cNvSpPr>
            <a:spLocks noGrp="1"/>
          </p:cNvSpPr>
          <p:nvPr>
            <p:ph type="dt" idx="58"/>
          </p:nvPr>
        </p:nvSpPr>
        <p:spPr>
          <a:xfrm>
            <a:off x="794880" y="6342120"/>
            <a:ext cx="274284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4950EBE-21B1-4CAD-83F2-E1CC6DFFA591}" type="datetime">
              <a:rPr b="0" lang="ru-RU" sz="1000" spc="94" strike="noStrike">
                <a:solidFill>
                  <a:srgbClr val="000000"/>
                </a:solidFill>
                <a:latin typeface="Avenir Next LT Pro"/>
              </a:rPr>
              <a:t>23.9.26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ftr" idx="59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             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60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AD0026-08A4-43EE-80E6-4024AAF4F0F3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Заголовок 1"/>
          <p:cNvSpPr/>
          <p:nvPr/>
        </p:nvSpPr>
        <p:spPr>
          <a:xfrm>
            <a:off x="430560" y="216360"/>
            <a:ext cx="497448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20000"/>
              </a:lnSpc>
            </a:pPr>
            <a:r>
              <a:rPr b="0" lang="ru-RU" sz="1400" spc="695" strike="noStrike" cap="all">
                <a:solidFill>
                  <a:srgbClr val="00b0f0"/>
                </a:solidFill>
                <a:latin typeface="Avenir Next LT Pro Light"/>
              </a:rPr>
              <a:t>Создание SWOT-анализа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14"/>
          <p:cNvSpPr/>
          <p:nvPr/>
        </p:nvSpPr>
        <p:spPr>
          <a:xfrm>
            <a:off x="434160" y="653400"/>
            <a:ext cx="63903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venir Next LT Pro"/>
              </a:rPr>
              <a:t>Собрать информацию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2">
            <a:alphaModFix amt="50000"/>
          </a:blip>
          <a:stretch/>
        </p:blipFill>
        <p:spPr>
          <a:xfrm>
            <a:off x="7626600" y="3686400"/>
            <a:ext cx="3533040" cy="5133240"/>
          </a:xfrm>
          <a:prstGeom prst="rect">
            <a:avLst/>
          </a:prstGeom>
          <a:ln w="0">
            <a:noFill/>
          </a:ln>
        </p:spPr>
      </p:pic>
      <p:pic>
        <p:nvPicPr>
          <p:cNvPr id="227" name="Рисунок 9" descr=""/>
          <p:cNvPicPr/>
          <p:nvPr/>
        </p:nvPicPr>
        <p:blipFill>
          <a:blip r:embed="rId3">
            <a:alphaModFix amt="29000"/>
          </a:blip>
          <a:stretch/>
        </p:blipFill>
        <p:spPr>
          <a:xfrm>
            <a:off x="-408600" y="1029600"/>
            <a:ext cx="12828240" cy="5825880"/>
          </a:xfrm>
          <a:prstGeom prst="rect">
            <a:avLst/>
          </a:prstGeom>
          <a:ln w="12600">
            <a:noFill/>
          </a:ln>
        </p:spPr>
      </p:pic>
      <p:sp>
        <p:nvSpPr>
          <p:cNvPr id="228" name="TextBox 10"/>
          <p:cNvSpPr/>
          <p:nvPr/>
        </p:nvSpPr>
        <p:spPr>
          <a:xfrm rot="360000">
            <a:off x="2344320" y="2346480"/>
            <a:ext cx="32461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Финансы:</a:t>
            </a: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выручка, чистая прибыль, рентабельность (ROS/ROI), средний чек, динамика затрат.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11"/>
          <p:cNvSpPr/>
          <p:nvPr/>
        </p:nvSpPr>
        <p:spPr>
          <a:xfrm rot="300000">
            <a:off x="2334960" y="3102120"/>
            <a:ext cx="274284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Клиенты:</a:t>
            </a: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уровень удовлетворенности (CSAT), индекс лояльности (NPS), коэффициент оттока (Churn Rate).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13"/>
          <p:cNvSpPr/>
          <p:nvPr/>
        </p:nvSpPr>
        <p:spPr>
          <a:xfrm rot="21060000">
            <a:off x="6472080" y="2304720"/>
            <a:ext cx="274284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Продукт и процессы:</a:t>
            </a: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процент брака/ошибок, скорость выполнения заказов, загрузка мощностей.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19"/>
          <p:cNvSpPr/>
          <p:nvPr/>
        </p:nvSpPr>
        <p:spPr>
          <a:xfrm rot="21300000">
            <a:off x="6455160" y="3446280"/>
            <a:ext cx="274284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Внешний рынок:</a:t>
            </a: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темпы роста ниши, инфляция, изменения в законах, количество и доля ключевых конкурентов.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2" name="" descr=""/>
          <p:cNvPicPr/>
          <p:nvPr/>
        </p:nvPicPr>
        <p:blipFill>
          <a:blip r:embed="rId4">
            <a:alphaModFix amt="50000"/>
          </a:blip>
          <a:stretch/>
        </p:blipFill>
        <p:spPr>
          <a:xfrm flipH="1">
            <a:off x="-113040" y="4140000"/>
            <a:ext cx="3533040" cy="513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/>
          <p:nvPr/>
        </p:nvSpPr>
        <p:spPr>
          <a:xfrm rot="9205800">
            <a:off x="399600" y="4091760"/>
            <a:ext cx="1935000" cy="130356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34" name="" descr=""/>
          <p:cNvPicPr/>
          <p:nvPr/>
        </p:nvPicPr>
        <p:blipFill>
          <a:blip r:embed="rId2"/>
          <a:stretch/>
        </p:blipFill>
        <p:spPr>
          <a:xfrm rot="18405000">
            <a:off x="554760" y="934560"/>
            <a:ext cx="1942920" cy="1910160"/>
          </a:xfrm>
          <a:prstGeom prst="rect">
            <a:avLst/>
          </a:prstGeom>
          <a:ln w="0">
            <a:noFill/>
          </a:ln>
        </p:spPr>
      </p:pic>
      <p:pic>
        <p:nvPicPr>
          <p:cNvPr id="235" name="" descr=""/>
          <p:cNvPicPr/>
          <p:nvPr/>
        </p:nvPicPr>
        <p:blipFill>
          <a:blip r:embed="rId3"/>
          <a:stretch/>
        </p:blipFill>
        <p:spPr>
          <a:xfrm rot="3955800">
            <a:off x="8662320" y="898200"/>
            <a:ext cx="2722320" cy="1815120"/>
          </a:xfrm>
          <a:prstGeom prst="rect">
            <a:avLst/>
          </a:prstGeom>
          <a:ln w="0">
            <a:noFill/>
          </a:ln>
        </p:spPr>
      </p:pic>
      <p:pic>
        <p:nvPicPr>
          <p:cNvPr id="236" name="" descr=""/>
          <p:cNvPicPr/>
          <p:nvPr/>
        </p:nvPicPr>
        <p:blipFill>
          <a:blip r:embed="rId4"/>
          <a:stretch/>
        </p:blipFill>
        <p:spPr>
          <a:xfrm rot="5315400">
            <a:off x="9336960" y="3696840"/>
            <a:ext cx="1898640" cy="2526120"/>
          </a:xfrm>
          <a:prstGeom prst="rect">
            <a:avLst/>
          </a:prstGeom>
          <a:ln w="0">
            <a:noFill/>
          </a:ln>
        </p:spPr>
      </p:pic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42440" y="-885240"/>
            <a:ext cx="5317200" cy="1438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ru-RU" sz="1400" spc="695" strike="noStrike" cap="all">
                <a:solidFill>
                  <a:srgbClr val="00b0f0"/>
                </a:solidFill>
                <a:latin typeface="Avenir Next LT Pro Light"/>
              </a:rPr>
              <a:t>Создание SWOT-анализа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ftr" idx="61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             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dt" idx="62"/>
          </p:nvPr>
        </p:nvSpPr>
        <p:spPr>
          <a:xfrm>
            <a:off x="9217440" y="214920"/>
            <a:ext cx="1485720" cy="338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F8531D1-C390-4357-9B54-C8C642D510C8}" type="datetime">
              <a:rPr b="0" lang="ru-RU" sz="1000" spc="94" strike="noStrike">
                <a:solidFill>
                  <a:srgbClr val="000000"/>
                </a:solidFill>
                <a:latin typeface="Avenir Next LT Pro"/>
              </a:rPr>
              <a:t>23.9.26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sldNum" idx="63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881726-27F7-4680-BBD5-92FE9C51C710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TextBox 6"/>
          <p:cNvSpPr/>
          <p:nvPr/>
        </p:nvSpPr>
        <p:spPr>
          <a:xfrm>
            <a:off x="434160" y="653400"/>
            <a:ext cx="63903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venir Next LT Pro"/>
              </a:rPr>
              <a:t>Заполнение SWOT-матрицы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2" name="Таблица 5"/>
          <p:cNvGraphicFramePr/>
          <p:nvPr/>
        </p:nvGraphicFramePr>
        <p:xfrm>
          <a:off x="1727280" y="2066040"/>
          <a:ext cx="8168400" cy="3842280"/>
        </p:xfrm>
        <a:graphic>
          <a:graphicData uri="http://schemas.openxmlformats.org/drawingml/2006/table">
            <a:tbl>
              <a:tblPr/>
              <a:tblGrid>
                <a:gridCol w="4084200"/>
                <a:gridCol w="4084560"/>
              </a:tblGrid>
              <a:tr h="173880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что делает нашу компанию/продукт успешной?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в каких областях наша компания/продукт лучше конкурентов?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что наши клиенты/пользователи ценят больше всего в нашей работе?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какие ресурсы и преимущества нам доступны?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76320">
                      <a:solidFill>
                        <a:srgbClr val="ffffff"/>
                      </a:solidFill>
                      <a:prstDash val="solid"/>
                    </a:lnB>
                    <a:solidFill>
                      <a:srgbClr val="00a80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что можно улучшить в компании/продукте?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что поможет работать эффективнее?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в чём мы уступаем конкурентам?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какие наши ресурсы нужно улучшить или заменить?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4a4a"/>
                    </a:solidFill>
                  </a:tcPr>
                </a:tc>
              </a:tr>
              <a:tr h="2103480"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какие новые рынки мы можем занять?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какие технологии и инновации могут помочь нам улучшить нашу работу?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какие изменения в законодательстве могут открыть для нас новые возможности?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какие международные рынки и клиенты могут быть доступны для нашей компании/продукта?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какие изменения в отрасли могут негативно повлиять на нашу работу?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какие тенденции или изменения в поведении клиентов могут негативно сказаться на нашем бизнесе?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какие изменения в законодательстве могут негативно повлиять на нашу работу?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Consolas"/>
                        </a:rPr>
                        <a:t>какие новые конкуренты могут появиться на рынке?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d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" dur="indefinite" restart="never" nodeType="tmRoot">
          <p:childTnLst>
            <p:seq>
              <p:cTn id="33" dur="indefinite" nodeType="mainSeq"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9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2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nodeType="after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nodeType="afterEffect" fill="hold" presetClass="entr" presetID="5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" dur="25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" dur="25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" dur="25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" dur="25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8" dur="25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ftr" idx="64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             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dt" idx="65"/>
          </p:nvPr>
        </p:nvSpPr>
        <p:spPr>
          <a:xfrm>
            <a:off x="9217440" y="214920"/>
            <a:ext cx="1485720" cy="338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5C97D60-2AF0-4BA4-9C6A-91BA454E25F1}" type="datetime">
              <a:rPr b="0" lang="ru-RU" sz="1000" spc="94" strike="noStrike">
                <a:solidFill>
                  <a:srgbClr val="000000"/>
                </a:solidFill>
                <a:latin typeface="Avenir Next LT Pro"/>
              </a:rPr>
              <a:t>23.9.26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66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BACF14-FEED-41F4-B2E9-E1D536DC2735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TextBox 6"/>
          <p:cNvSpPr/>
          <p:nvPr/>
        </p:nvSpPr>
        <p:spPr>
          <a:xfrm>
            <a:off x="434160" y="653400"/>
            <a:ext cx="63903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venir Next LT Pro"/>
              </a:rPr>
              <a:t>Оценка результата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7" name="Рисунок 7" descr=""/>
          <p:cNvPicPr/>
          <p:nvPr/>
        </p:nvPicPr>
        <p:blipFill>
          <a:blip r:embed="rId1"/>
          <a:stretch/>
        </p:blipFill>
        <p:spPr>
          <a:xfrm>
            <a:off x="1774800" y="1195920"/>
            <a:ext cx="7981560" cy="5142960"/>
          </a:xfrm>
          <a:prstGeom prst="rect">
            <a:avLst/>
          </a:prstGeom>
          <a:ln w="12600">
            <a:noFill/>
          </a:ln>
        </p:spPr>
      </p:pic>
      <p:sp>
        <p:nvSpPr>
          <p:cNvPr id="248" name="TextBox 8"/>
          <p:cNvSpPr/>
          <p:nvPr/>
        </p:nvSpPr>
        <p:spPr>
          <a:xfrm>
            <a:off x="6828480" y="1391760"/>
            <a:ext cx="2742840" cy="645840"/>
          </a:xfrm>
          <a:prstGeom prst="rect">
            <a:avLst/>
          </a:prstGeom>
          <a:solidFill>
            <a:srgbClr val="4690b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Как использовать свои сильные стороны, чтобы взять максимум от внешних возможностей?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Box 9"/>
          <p:cNvSpPr/>
          <p:nvPr/>
        </p:nvSpPr>
        <p:spPr>
          <a:xfrm>
            <a:off x="6828480" y="2780280"/>
            <a:ext cx="2742840" cy="645840"/>
          </a:xfrm>
          <a:prstGeom prst="rect">
            <a:avLst/>
          </a:prstGeom>
          <a:solidFill>
            <a:srgbClr val="4690b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Как преодолеть свои слабости за счет внешних возможностей?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Box 10"/>
          <p:cNvSpPr/>
          <p:nvPr/>
        </p:nvSpPr>
        <p:spPr>
          <a:xfrm>
            <a:off x="6828480" y="4092480"/>
            <a:ext cx="2742840" cy="822960"/>
          </a:xfrm>
          <a:prstGeom prst="rect">
            <a:avLst/>
          </a:prstGeom>
          <a:solidFill>
            <a:srgbClr val="4690b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Как использовать свои силы, чтобы защититься от внешних угроз?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Box 11"/>
          <p:cNvSpPr/>
          <p:nvPr/>
        </p:nvSpPr>
        <p:spPr>
          <a:xfrm>
            <a:off x="6828480" y="5447160"/>
            <a:ext cx="2742840" cy="822960"/>
          </a:xfrm>
          <a:prstGeom prst="rect">
            <a:avLst/>
          </a:prstGeom>
          <a:solidFill>
            <a:srgbClr val="4690b8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Как минимизировать слабости и уйти от угроз, чтобы буквально «выжить»?</a:t>
            </a: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title"/>
          </p:nvPr>
        </p:nvSpPr>
        <p:spPr>
          <a:xfrm>
            <a:off x="442440" y="-90000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ru-RU" sz="1400" spc="695" strike="noStrike" cap="all">
                <a:solidFill>
                  <a:srgbClr val="00b0f0"/>
                </a:solidFill>
                <a:latin typeface="Avenir Next LT Pro Light"/>
              </a:rPr>
              <a:t>Создание SWOT-анализа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42440" y="-90000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ru-RU" sz="1400" spc="695" strike="noStrike" cap="all">
                <a:solidFill>
                  <a:srgbClr val="00b0f0"/>
                </a:solidFill>
                <a:latin typeface="Avenir Next LT Pro Light"/>
              </a:rPr>
              <a:t>Создание SWOT-анализа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ftr" idx="67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             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dt" idx="68"/>
          </p:nvPr>
        </p:nvSpPr>
        <p:spPr>
          <a:xfrm>
            <a:off x="9217440" y="214920"/>
            <a:ext cx="1485720" cy="338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F360DAF-7D85-432A-BD6F-31B08E5FB2C7}" type="datetime">
              <a:rPr b="0" lang="ru-RU" sz="1000" spc="94" strike="noStrike">
                <a:solidFill>
                  <a:srgbClr val="000000"/>
                </a:solidFill>
                <a:latin typeface="Avenir Next LT Pro"/>
              </a:rPr>
              <a:t>23.9.26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sldNum" idx="69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363E20-FE67-4ABA-BCA1-AD2BBDD29D2B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TextBox 6"/>
          <p:cNvSpPr/>
          <p:nvPr/>
        </p:nvSpPr>
        <p:spPr>
          <a:xfrm>
            <a:off x="434160" y="653400"/>
            <a:ext cx="63903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venir Next LT Pro"/>
              </a:rPr>
              <a:t>Составление плана по итогам встречи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8" name="Рисунок 12" descr=""/>
          <p:cNvPicPr/>
          <p:nvPr/>
        </p:nvPicPr>
        <p:blipFill>
          <a:blip r:embed="rId1"/>
          <a:stretch/>
        </p:blipFill>
        <p:spPr>
          <a:xfrm>
            <a:off x="1802160" y="1159920"/>
            <a:ext cx="8587080" cy="5367600"/>
          </a:xfrm>
          <a:prstGeom prst="rect">
            <a:avLst/>
          </a:prstGeom>
          <a:ln w="126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" descr=""/>
          <p:cNvPicPr/>
          <p:nvPr/>
        </p:nvPicPr>
        <p:blipFill>
          <a:blip r:embed="rId1"/>
          <a:stretch/>
        </p:blipFill>
        <p:spPr>
          <a:xfrm>
            <a:off x="5220000" y="303840"/>
            <a:ext cx="5209560" cy="3475800"/>
          </a:xfrm>
          <a:prstGeom prst="rect">
            <a:avLst/>
          </a:prstGeom>
          <a:ln w="0">
            <a:noFill/>
          </a:ln>
        </p:spPr>
      </p:pic>
      <p:pic>
        <p:nvPicPr>
          <p:cNvPr id="260" name="" descr=""/>
          <p:cNvPicPr/>
          <p:nvPr/>
        </p:nvPicPr>
        <p:blipFill>
          <a:blip r:embed="rId2"/>
          <a:stretch/>
        </p:blipFill>
        <p:spPr>
          <a:xfrm>
            <a:off x="9360000" y="900000"/>
            <a:ext cx="2834280" cy="3779640"/>
          </a:xfrm>
          <a:prstGeom prst="rect">
            <a:avLst/>
          </a:prstGeom>
          <a:ln w="0">
            <a:noFill/>
          </a:ln>
        </p:spPr>
      </p:pic>
      <p:pic>
        <p:nvPicPr>
          <p:cNvPr id="261" name="" descr=""/>
          <p:cNvPicPr/>
          <p:nvPr/>
        </p:nvPicPr>
        <p:blipFill>
          <a:blip r:embed="rId3"/>
          <a:stretch/>
        </p:blipFill>
        <p:spPr>
          <a:xfrm>
            <a:off x="0" y="1620000"/>
            <a:ext cx="1439640" cy="1439640"/>
          </a:xfrm>
          <a:prstGeom prst="rect">
            <a:avLst/>
          </a:prstGeom>
          <a:ln w="0">
            <a:noFill/>
          </a:ln>
        </p:spPr>
      </p:pic>
      <p:sp>
        <p:nvSpPr>
          <p:cNvPr id="262" name="Прямоугольник: скругленные углы 10"/>
          <p:cNvSpPr/>
          <p:nvPr/>
        </p:nvSpPr>
        <p:spPr>
          <a:xfrm>
            <a:off x="5809680" y="2910600"/>
            <a:ext cx="5097240" cy="2305440"/>
          </a:xfrm>
          <a:custGeom>
            <a:avLst/>
            <a:gdLst>
              <a:gd name="textAreaLeft" fmla="*/ 112320 w 5097240"/>
              <a:gd name="textAreaRight" fmla="*/ 4985280 w 5097240"/>
              <a:gd name="textAreaTop" fmla="*/ 112320 h 2305440"/>
              <a:gd name="textAreaBottom" fmla="*/ 2193480 h 2305440"/>
            </a:gdLst>
            <a:ahLst/>
            <a:rect l="textAreaLeft" t="textAreaTop" r="textAreaRight" b="textAreaBottom"/>
            <a:pathLst>
              <a:path w="47749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44149" y="21600"/>
                </a:lnTo>
                <a:arcTo wR="3600" hR="3600" stAng="5400000" swAng="-5400000"/>
                <a:lnTo>
                  <a:pt x="47749" y="3600"/>
                </a:lnTo>
                <a:arcTo wR="3600" hR="3600" stAng="0" swAng="-5400000"/>
                <a:close/>
              </a:path>
            </a:pathLst>
          </a:custGeom>
          <a:solidFill>
            <a:srgbClr val="fef3eb"/>
          </a:solidFill>
          <a:ln w="6480">
            <a:solidFill>
              <a:srgbClr val="fbe2d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442440" y="-900000"/>
            <a:ext cx="10357200" cy="1438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ru-RU" sz="1400" spc="695" strike="noStrike" cap="all">
                <a:solidFill>
                  <a:srgbClr val="00b0f0"/>
                </a:solidFill>
                <a:latin typeface="Avenir Next LT Pro Light"/>
              </a:rPr>
              <a:t>Сравнительный анализ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ftr" idx="70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             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dt" idx="71"/>
          </p:nvPr>
        </p:nvSpPr>
        <p:spPr>
          <a:xfrm>
            <a:off x="9217440" y="214920"/>
            <a:ext cx="1485720" cy="338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410901E-D882-46DE-A4E5-A140C1002BFA}" type="datetime">
              <a:rPr b="0" lang="ru-RU" sz="1000" spc="94" strike="noStrike">
                <a:solidFill>
                  <a:srgbClr val="000000"/>
                </a:solidFill>
                <a:latin typeface="Avenir Next LT Pro"/>
              </a:rPr>
              <a:t>23.9.26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sldNum" idx="72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6E65DD-4192-4DFA-B5D0-82458E8C5579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TextBox 6"/>
          <p:cNvSpPr/>
          <p:nvPr/>
        </p:nvSpPr>
        <p:spPr>
          <a:xfrm>
            <a:off x="434160" y="653400"/>
            <a:ext cx="63903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2400" spc="-1" strike="noStrike">
                <a:solidFill>
                  <a:srgbClr val="000000"/>
                </a:solidFill>
                <a:latin typeface="Avenir Next LT Pro"/>
              </a:rPr>
              <a:t>Плюсы и минусы метода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Прямоугольник: скругленные углы 5"/>
          <p:cNvSpPr/>
          <p:nvPr/>
        </p:nvSpPr>
        <p:spPr>
          <a:xfrm>
            <a:off x="365400" y="2910600"/>
            <a:ext cx="5097240" cy="2305440"/>
          </a:xfrm>
          <a:custGeom>
            <a:avLst/>
            <a:gdLst>
              <a:gd name="textAreaLeft" fmla="*/ 112320 w 5097240"/>
              <a:gd name="textAreaRight" fmla="*/ 4985280 w 5097240"/>
              <a:gd name="textAreaTop" fmla="*/ 112320 h 2305440"/>
              <a:gd name="textAreaBottom" fmla="*/ 2193480 h 2305440"/>
            </a:gdLst>
            <a:ahLst/>
            <a:rect l="textAreaLeft" t="textAreaTop" r="textAreaRight" b="textAreaBottom"/>
            <a:pathLst>
              <a:path w="47749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44149" y="21600"/>
                </a:lnTo>
                <a:arcTo wR="3600" hR="3600" stAng="5400000" swAng="-5400000"/>
                <a:lnTo>
                  <a:pt x="47749" y="3600"/>
                </a:lnTo>
                <a:arcTo wR="3600" hR="3600" stAng="0" swAng="-5400000"/>
                <a:close/>
              </a:path>
            </a:pathLst>
          </a:custGeom>
          <a:solidFill>
            <a:srgbClr val="fef3eb"/>
          </a:solidFill>
          <a:ln w="6480">
            <a:solidFill>
              <a:srgbClr val="fbe2d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9" name="TextBox 8"/>
          <p:cNvSpPr/>
          <p:nvPr/>
        </p:nvSpPr>
        <p:spPr>
          <a:xfrm>
            <a:off x="689760" y="3212280"/>
            <a:ext cx="512208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16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👍🏻</a:t>
            </a:r>
            <a:r>
              <a:rPr b="1" lang="ru-RU" sz="1600" spc="-1" strike="noStrike">
                <a:solidFill>
                  <a:srgbClr val="92d050"/>
                </a:solidFill>
                <a:latin typeface="Avenir Next LT Pro"/>
                <a:ea typeface="Avenir Next LT Pro"/>
              </a:rPr>
              <a:t>Преимущества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pc="-1" strike="noStrike">
                <a:solidFill>
                  <a:srgbClr val="92d050"/>
                </a:solidFill>
                <a:latin typeface="Avenir Next LT Pro"/>
                <a:ea typeface="Avenir Next LT Pro"/>
              </a:rPr>
              <a:t>Простота:</a:t>
            </a:r>
            <a:r>
              <a:rPr b="0" lang="ru-RU" sz="16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Не требует сложных расчетов.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pc="-1" strike="noStrike">
                <a:solidFill>
                  <a:srgbClr val="92d050"/>
                </a:solidFill>
                <a:latin typeface="Avenir Next LT Pro"/>
                <a:ea typeface="Avenir Next LT Pro"/>
              </a:rPr>
              <a:t>Универсальность:</a:t>
            </a:r>
            <a:r>
              <a:rPr b="0" lang="ru-RU" sz="16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Подходит для разных сфер жизни.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pc="-1" strike="noStrike">
                <a:solidFill>
                  <a:srgbClr val="92d050"/>
                </a:solidFill>
                <a:latin typeface="Avenir Next LT Pro"/>
                <a:ea typeface="Avenir Next LT Pro"/>
              </a:rPr>
              <a:t>Наглядность:</a:t>
            </a:r>
            <a:r>
              <a:rPr b="0" lang="ru-RU" sz="16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Простая структура из 4 блоков.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9"/>
          <p:cNvSpPr/>
          <p:nvPr/>
        </p:nvSpPr>
        <p:spPr>
          <a:xfrm>
            <a:off x="6091920" y="3211200"/>
            <a:ext cx="475776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rgbClr val="f4a7a0"/>
                </a:solidFill>
                <a:latin typeface="Avenir Next LT Pro"/>
                <a:ea typeface="Avenir Next LT Pro"/>
              </a:rPr>
              <a:t>👎🏻</a:t>
            </a:r>
            <a:r>
              <a:rPr b="1" lang="ru-RU" sz="1600" spc="-1" strike="noStrike">
                <a:solidFill>
                  <a:srgbClr val="f4a7a0"/>
                </a:solidFill>
                <a:latin typeface="Avenir Next LT Pro"/>
                <a:ea typeface="Avenir Next LT Pro"/>
              </a:rPr>
              <a:t>Ограничения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pc="-1" strike="noStrike">
                <a:solidFill>
                  <a:srgbClr val="f4a7a0"/>
                </a:solidFill>
                <a:latin typeface="Avenir Next LT Pro"/>
                <a:ea typeface="Avenir Next LT Pro"/>
              </a:rPr>
              <a:t>Субъективность:</a:t>
            </a:r>
            <a:r>
              <a:rPr b="0" lang="ru-RU" sz="16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Зависит от мнения эксперта.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pc="-1" strike="noStrike">
                <a:solidFill>
                  <a:srgbClr val="f4a7a0"/>
                </a:solidFill>
                <a:latin typeface="Avenir Next LT Pro"/>
                <a:ea typeface="Avenir Next LT Pro"/>
              </a:rPr>
              <a:t>Без приоритетов:</a:t>
            </a:r>
            <a:r>
              <a:rPr b="0" lang="ru-RU" sz="16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Все факторы изначально равны.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600" spc="-1" strike="noStrike">
                <a:solidFill>
                  <a:srgbClr val="f4a7a0"/>
                </a:solidFill>
                <a:latin typeface="Avenir Next LT Pro"/>
                <a:ea typeface="Avenir Next LT Pro"/>
              </a:rPr>
              <a:t>Статичность:</a:t>
            </a:r>
            <a:r>
              <a:rPr b="0" lang="ru-RU" sz="1600" spc="-1" strike="noStrike">
                <a:solidFill>
                  <a:srgbClr val="000000"/>
                </a:solidFill>
                <a:latin typeface="Avenir Next LT Pro"/>
                <a:ea typeface="Avenir Next LT Pro"/>
              </a:rPr>
              <a:t> Отражает текущий момент.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1" name="Рукописный ввод 25" descr=""/>
          <p:cNvPicPr/>
          <p:nvPr/>
        </p:nvPicPr>
        <p:blipFill>
          <a:blip r:embed="rId4"/>
          <a:stretch/>
        </p:blipFill>
        <p:spPr>
          <a:xfrm rot="19980000">
            <a:off x="-656640" y="1985400"/>
            <a:ext cx="4025880" cy="6983640"/>
          </a:xfrm>
          <a:prstGeom prst="rect">
            <a:avLst/>
          </a:prstGeom>
          <a:ln w="12600">
            <a:noFill/>
          </a:ln>
        </p:spPr>
      </p:pic>
      <p:pic>
        <p:nvPicPr>
          <p:cNvPr id="272" name="Рукописный ввод 29" descr=""/>
          <p:cNvPicPr/>
          <p:nvPr/>
        </p:nvPicPr>
        <p:blipFill>
          <a:blip r:embed="rId5"/>
          <a:stretch/>
        </p:blipFill>
        <p:spPr>
          <a:xfrm>
            <a:off x="6836760" y="2239200"/>
            <a:ext cx="5639760" cy="7744320"/>
          </a:xfrm>
          <a:prstGeom prst="rect">
            <a:avLst/>
          </a:prstGeom>
          <a:ln w="126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" dur="indefinite" restart="never" nodeType="tmRoot">
          <p:childTnLst>
            <p:seq>
              <p:cTn id="60" dur="indefinite" nodeType="mainSeq"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afterEffect" fill="hold" presetClass="entr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nodeType="withEffect" fill="hold" presetClass="entr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2880" y="5040"/>
            <a:ext cx="12211920" cy="6847560"/>
          </a:xfrm>
          <a:prstGeom prst="rect">
            <a:avLst/>
          </a:prstGeom>
          <a:ln w="0">
            <a:noFill/>
          </a:ln>
        </p:spPr>
      </p:pic>
      <p:sp>
        <p:nvSpPr>
          <p:cNvPr id="274" name="PlaceHolder 1"/>
          <p:cNvSpPr>
            <a:spLocks noGrp="1"/>
          </p:cNvSpPr>
          <p:nvPr>
            <p:ph type="ftr" idx="73"/>
          </p:nvPr>
        </p:nvSpPr>
        <p:spPr>
          <a:xfrm>
            <a:off x="7696080" y="6342120"/>
            <a:ext cx="346968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46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46" strike="noStrike">
                <a:solidFill>
                  <a:srgbClr val="000000"/>
                </a:solidFill>
                <a:latin typeface="Avenir Next LT Pro"/>
              </a:rPr>
              <a:t>             </a:t>
            </a:r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dt" idx="74"/>
          </p:nvPr>
        </p:nvSpPr>
        <p:spPr>
          <a:xfrm>
            <a:off x="9217440" y="214920"/>
            <a:ext cx="1485720" cy="338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24F7767-DFB9-4282-9005-3B536A693CAA}" type="datetime">
              <a:rPr b="0" lang="ru-RU" sz="1000" spc="94" strike="noStrike">
                <a:solidFill>
                  <a:srgbClr val="000000"/>
                </a:solidFill>
                <a:latin typeface="Avenir Next LT Pro"/>
              </a:rPr>
              <a:t>23.9.26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75"/>
          </p:nvPr>
        </p:nvSpPr>
        <p:spPr>
          <a:xfrm>
            <a:off x="11166480" y="6342120"/>
            <a:ext cx="525960" cy="364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94" strike="noStrike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07B4C6-23C9-4673-BB23-39482E59CAC9}" type="slidenum">
              <a:rPr b="0" lang="en-US" sz="1000" spc="94" strike="noStrike">
                <a:solidFill>
                  <a:srgbClr val="000000"/>
                </a:solidFill>
                <a:latin typeface="Avenir Next LT Pro"/>
              </a:rPr>
              <a:t>&lt;number&gt;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 type="title"/>
          </p:nvPr>
        </p:nvSpPr>
        <p:spPr>
          <a:xfrm>
            <a:off x="808560" y="365040"/>
            <a:ext cx="10357200" cy="1438200"/>
          </a:xfrm>
          <a:prstGeom prst="rect">
            <a:avLst/>
          </a:prstGeom>
          <a:solidFill>
            <a:srgbClr val="ffffff">
              <a:alpha val="55000"/>
            </a:srgbClr>
          </a:solidFill>
          <a:ln w="57240">
            <a:solidFill>
              <a:srgbClr val="000000"/>
            </a:solidFill>
            <a:miter/>
          </a:ln>
        </p:spPr>
        <p:txBody>
          <a:bodyPr lIns="91440" rIns="91440" tIns="45720" bIns="45720" anchor="ctr" anchorCtr="1">
            <a:noAutofit/>
          </a:bodyPr>
          <a:p>
            <a:pPr indent="0"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ru-RU" sz="9600" spc="695" strike="noStrike" cap="all">
                <a:solidFill>
                  <a:srgbClr val="000000"/>
                </a:solidFill>
                <a:latin typeface="Avenir Next LT Pro Light"/>
                <a:ea typeface="Malgun Gothic"/>
              </a:rPr>
              <a:t>СПАСИБО </a:t>
            </a:r>
            <a:br>
              <a:rPr sz="9600"/>
            </a:br>
            <a:r>
              <a:rPr b="1" lang="ru-RU" sz="9600" spc="695" strike="noStrike" cap="all">
                <a:solidFill>
                  <a:srgbClr val="000000"/>
                </a:solidFill>
                <a:latin typeface="Avenir Next LT Pro Light"/>
                <a:ea typeface="Malgun Gothic"/>
              </a:rPr>
              <a:t>ЗА вНИМАНИЕ</a:t>
            </a:r>
            <a:endParaRPr b="0" lang="ru-RU" sz="9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1" dur="indefinite" restart="never" nodeType="tmRoot">
          <p:childTnLst>
            <p:seq>
              <p:cTn id="72" dur="indefinite" nodeType="mainSeq">
                <p:childTnLst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76" fill="hold"/>
                                        <p:tgtEl>
                                          <p:spTgt spid="2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7" nodeType="withEffect" fill="hold" presetClass="entr" repeatCount="1000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79" nodeType="interactiveSeq" fill="hold">
                <p:stCondLst>
                  <p:cond delay="0"/>
                </p:stCondLst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83" fill="hold"/>
                                        <p:tgtEl>
                                          <p:spTgt spid="2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2026-09-22T17:30:11Z</dcterms:created>
  <dc:creator/>
  <dc:description/>
  <dc:language>ru-RU</dc:language>
  <cp:lastModifiedBy/>
  <dcterms:modified xsi:type="dcterms:W3CDTF">2026-09-23T20:03:27Z</dcterms:modified>
  <cp:revision>699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